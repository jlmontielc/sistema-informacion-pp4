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a9209ee48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a9209ee4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aa8f5872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9aa8f5872d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h442e7c85ef0c049a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h442e7c85ef0c049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h32496502db734d73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h32496502db734d73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h32496502db734d73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h32496502db734d73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h32496502db734d7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h32496502db734d73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h32496502db734d7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h32496502db734d73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jp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://node.js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965" y="282653"/>
            <a:ext cx="1020690" cy="124611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3214688" y="259255"/>
            <a:ext cx="5129212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UNIVERSIDAD DEL ZULIA           </a:t>
            </a:r>
            <a:endParaRPr sz="16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FACULTAD EXPERIMENTAL DE CIENCIAS</a:t>
            </a:r>
            <a:endParaRPr sz="16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DIVISIÓN DE PROGRAMAS ESPECIALES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LICENCIATURA EN COMPUTACIÓN</a:t>
            </a:r>
            <a:endParaRPr sz="1600"/>
          </a:p>
        </p:txBody>
      </p:sp>
      <p:sp>
        <p:nvSpPr>
          <p:cNvPr id="86" name="Google Shape;86;p13"/>
          <p:cNvSpPr/>
          <p:nvPr/>
        </p:nvSpPr>
        <p:spPr>
          <a:xfrm>
            <a:off x="1807593" y="2190371"/>
            <a:ext cx="8511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DESARROLLO DE SISTEMAS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3140536" y="3662609"/>
            <a:ext cx="5828700" cy="9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de </a:t>
            </a:r>
            <a:r>
              <a:rPr b="1"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</a:t>
            </a:r>
            <a:r>
              <a:rPr b="1"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Entrenador Personal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4967213" y="6146198"/>
            <a:ext cx="162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PERIODO I </a:t>
            </a:r>
            <a:r>
              <a:rPr lang="es-E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s-E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21869" y="2926939"/>
            <a:ext cx="12192000" cy="503434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PROYECTO FINAL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8467528" y="5442450"/>
            <a:ext cx="211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Presentado por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8467525" y="5811750"/>
            <a:ext cx="37245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Montiel Cordero, Jorge Luis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C.I.: 31.545.512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48901" y="186362"/>
            <a:ext cx="1375526" cy="1375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FINAL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rgbClr val="2E75B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413854" y="1197237"/>
            <a:ext cx="10323871" cy="55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39750" lvl="0" marL="539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Ciclo de Vida seleccionado (resumen)</a:t>
            </a:r>
            <a:endParaRPr/>
          </a:p>
          <a:p>
            <a:pPr indent="-539750" lvl="0" marL="539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y Herramientas de Desarrollo</a:t>
            </a:r>
            <a:endParaRPr/>
          </a:p>
          <a:p>
            <a:pPr indent="-539750" lvl="0" marL="539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de Flujo de Datos (DFD)</a:t>
            </a:r>
            <a:endParaRPr/>
          </a:p>
          <a:p>
            <a:pPr indent="-539750" lvl="0" marL="539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Diccionario de Datos (DFD)</a:t>
            </a:r>
            <a:endParaRPr/>
          </a:p>
          <a:p>
            <a:pPr indent="-539750" lvl="0" marL="539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Diccionario de Datos (BD)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39750" lvl="0" marL="539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Entidad – Relación</a:t>
            </a:r>
            <a:endParaRPr/>
          </a:p>
          <a:p>
            <a:pPr indent="-539750" lvl="0" marL="539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Diccionario de Datos (Diagrama E-R)</a:t>
            </a:r>
            <a:endParaRPr/>
          </a:p>
          <a:p>
            <a:pPr indent="-539750" lvl="0" marL="539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Interfaces de Entrada / Salida</a:t>
            </a:r>
            <a:endParaRPr/>
          </a:p>
          <a:p>
            <a:pPr indent="-539750" lvl="0" marL="539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 Pruebas al SI</a:t>
            </a:r>
            <a:endParaRPr/>
          </a:p>
          <a:p>
            <a:pPr indent="-539750" lvl="0" marL="539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 de Mantenimiento</a:t>
            </a:r>
            <a:endParaRPr/>
          </a:p>
          <a:p>
            <a:pPr indent="-539750" lvl="0" marL="539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Personal que participo (soporte - minuta)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ejorar como imagen" id="104" name="Google Shape;10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FINAL</a:t>
            </a:r>
            <a:endParaRPr/>
          </a:p>
        </p:txBody>
      </p:sp>
      <p:sp>
        <p:nvSpPr>
          <p:cNvPr id="110" name="Google Shape;110;p16"/>
          <p:cNvSpPr/>
          <p:nvPr/>
        </p:nvSpPr>
        <p:spPr>
          <a:xfrm>
            <a:off x="0" y="503434"/>
            <a:ext cx="12192000" cy="554700"/>
          </a:xfrm>
          <a:prstGeom prst="rect">
            <a:avLst/>
          </a:prstGeom>
          <a:solidFill>
            <a:srgbClr val="2E75B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Ciclo de vida: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120325" y="1243275"/>
            <a:ext cx="11931300" cy="54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dk1"/>
                </a:solidFill>
              </a:rPr>
              <a:t>Incremental + Scrum </a:t>
            </a:r>
            <a:r>
              <a:rPr b="1" lang="es-ES" sz="2200">
                <a:solidFill>
                  <a:schemeClr val="dk1"/>
                </a:solidFill>
              </a:rPr>
              <a:t>Híbrido</a:t>
            </a:r>
            <a:r>
              <a:rPr b="1" lang="es-ES" sz="2200">
                <a:solidFill>
                  <a:schemeClr val="dk1"/>
                </a:solidFill>
              </a:rPr>
              <a:t> 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</a:rPr>
              <a:t>Utilizare un ciclo de vida incremental para realizar una entrega </a:t>
            </a:r>
            <a:r>
              <a:rPr lang="es-ES" sz="2000">
                <a:solidFill>
                  <a:schemeClr val="dk1"/>
                </a:solidFill>
              </a:rPr>
              <a:t>rápida</a:t>
            </a:r>
            <a:r>
              <a:rPr lang="es-ES" sz="2000">
                <a:solidFill>
                  <a:schemeClr val="dk1"/>
                </a:solidFill>
              </a:rPr>
              <a:t> de un producto mínimo viable (MVP), para que el usuario pueda visualizar y utilizar las partes del sistema que se van creando.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</a:rPr>
              <a:t>Incrementos: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</a:rPr>
              <a:t>Al dividir el proyecto en 5 incrementos específicos, el riesgo de fallos críticos se distribuye. Es mucho más sencillo incorporar cambios basados en el feedback real.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descr="elimina en reportes donde dice: y notificaciones push" id="112" name="Google Shape;11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5876" y="3040975"/>
            <a:ext cx="8460200" cy="2726425"/>
          </a:xfrm>
          <a:prstGeom prst="rect">
            <a:avLst/>
          </a:prstGeom>
          <a:solidFill>
            <a:srgbClr val="2E75B5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/>
          <p:nvPr/>
        </p:nvSpPr>
        <p:spPr>
          <a:xfrm>
            <a:off x="0" y="0"/>
            <a:ext cx="12192000" cy="503400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FINAL</a:t>
            </a: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0" y="503434"/>
            <a:ext cx="12192000" cy="554700"/>
          </a:xfrm>
          <a:prstGeom prst="rect">
            <a:avLst/>
          </a:prstGeom>
          <a:solidFill>
            <a:srgbClr val="2E75B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Ciclo de vida: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120325" y="1243275"/>
            <a:ext cx="11931300" cy="54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dk1"/>
                </a:solidFill>
              </a:rPr>
              <a:t>Incremental + Scrum Híbrido 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</a:rPr>
              <a:t>Al inicio de cada incremento se realiza un </a:t>
            </a:r>
            <a:r>
              <a:rPr lang="es-ES" sz="2000">
                <a:solidFill>
                  <a:schemeClr val="dk1"/>
                </a:solidFill>
              </a:rPr>
              <a:t>Sprint Planning, Daily Scrum para hacer reuniones para decidir </a:t>
            </a:r>
            <a:r>
              <a:rPr lang="es-ES" sz="2000">
                <a:solidFill>
                  <a:schemeClr val="dk1"/>
                </a:solidFill>
              </a:rPr>
              <a:t>cómo</a:t>
            </a:r>
            <a:r>
              <a:rPr lang="es-ES" sz="2000">
                <a:solidFill>
                  <a:schemeClr val="dk1"/>
                </a:solidFill>
              </a:rPr>
              <a:t> se va a plantear el desarrollo, Sprint Review para al final de cada incremento realizar una prueba completa de cada incremento y </a:t>
            </a:r>
            <a:r>
              <a:rPr lang="es-ES" sz="2000">
                <a:solidFill>
                  <a:schemeClr val="dk1"/>
                </a:solidFill>
              </a:rPr>
              <a:t>cómo</a:t>
            </a:r>
            <a:r>
              <a:rPr lang="es-ES" sz="2000">
                <a:solidFill>
                  <a:schemeClr val="dk1"/>
                </a:solidFill>
              </a:rPr>
              <a:t> se acopla al sistema, Retrospectiva </a:t>
            </a:r>
            <a:r>
              <a:rPr lang="es-ES" sz="2000">
                <a:solidFill>
                  <a:schemeClr val="dk1"/>
                </a:solidFill>
              </a:rPr>
              <a:t>sería</a:t>
            </a:r>
            <a:r>
              <a:rPr lang="es-ES" sz="2000">
                <a:solidFill>
                  <a:schemeClr val="dk1"/>
                </a:solidFill>
              </a:rPr>
              <a:t> el feedback donde se realizan los cambios por si no le gustan al cliente 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20" name="Google Shape;12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2050" y="3530450"/>
            <a:ext cx="11307850" cy="29814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7625" y="0"/>
            <a:ext cx="12287250" cy="68635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71851" y="5444901"/>
            <a:ext cx="996500" cy="99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FINAL</a:t>
            </a:r>
            <a:endParaRPr/>
          </a:p>
        </p:txBody>
      </p:sp>
      <p:sp>
        <p:nvSpPr>
          <p:cNvPr id="132" name="Google Shape;132;p19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rgbClr val="2E75B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DIAGRAMA DE FLUJO DE DATOS – DFD NIVEL 0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7731" y="2656488"/>
            <a:ext cx="10296525" cy="23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FINAL</a:t>
            </a:r>
            <a:endParaRPr/>
          </a:p>
        </p:txBody>
      </p:sp>
      <p:sp>
        <p:nvSpPr>
          <p:cNvPr id="139" name="Google Shape;139;p20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rgbClr val="2E75B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DIAGRAMA DE FLUJO DE DATOS – DFD NIVEL 1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35913"/>
            <a:ext cx="11887201" cy="4012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FINAL</a:t>
            </a:r>
            <a:endParaRPr/>
          </a:p>
        </p:txBody>
      </p:sp>
      <p:sp>
        <p:nvSpPr>
          <p:cNvPr id="146" name="Google Shape;146;p21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rgbClr val="2E75B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DIAGRAMA DE FLUJO DE DATOS – DFD NIVEL 2 Gestionar perfil personal y disponibilidad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2200" y="1189663"/>
            <a:ext cx="5287606" cy="5494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FINAL</a:t>
            </a:r>
            <a:endParaRPr/>
          </a:p>
        </p:txBody>
      </p:sp>
      <p:sp>
        <p:nvSpPr>
          <p:cNvPr id="153" name="Google Shape;153;p22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rgbClr val="2E75B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DIAGRAMA DE FLUJO DE DATOS – DFD NIVEL 2 Planes de entrenamiento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3713" y="1168688"/>
            <a:ext cx="4744584" cy="5494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FINAL</a:t>
            </a:r>
            <a:endParaRPr/>
          </a:p>
        </p:txBody>
      </p:sp>
      <p:sp>
        <p:nvSpPr>
          <p:cNvPr id="160" name="Google Shape;160;p23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rgbClr val="2E75B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DIAGRAMA DE FLUJO DE DATOS – DFD NIVEL 2 Planes nutricionales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7725" y="1200138"/>
            <a:ext cx="5636550" cy="5494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FINAL</a:t>
            </a:r>
            <a:endParaRPr/>
          </a:p>
        </p:txBody>
      </p:sp>
      <p:sp>
        <p:nvSpPr>
          <p:cNvPr id="167" name="Google Shape;167;p24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rgbClr val="2E75B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DIAGRAMA DE FLUJO DE DATOS – DFD NIVEL 2 Analiticas y rendimiento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6688" y="1200113"/>
            <a:ext cx="5258620" cy="5494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FINAL</a:t>
            </a:r>
            <a:endParaRPr/>
          </a:p>
        </p:txBody>
      </p:sp>
      <p:sp>
        <p:nvSpPr>
          <p:cNvPr id="174" name="Google Shape;174;p25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rgbClr val="2E75B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DICCIONARIO DE DATOS - DFD</a:t>
            </a:r>
            <a:endParaRPr/>
          </a:p>
        </p:txBody>
      </p:sp>
      <p:pic>
        <p:nvPicPr>
          <p:cNvPr id="175" name="Google Shape;17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9475" y="1189263"/>
            <a:ext cx="9313058" cy="5494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FINAL</a:t>
            </a:r>
            <a:endParaRPr/>
          </a:p>
        </p:txBody>
      </p:sp>
      <p:sp>
        <p:nvSpPr>
          <p:cNvPr id="181" name="Google Shape;181;p26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rgbClr val="2E75B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DIAGRAMA ENTIDAD – RELACIÓN </a:t>
            </a:r>
            <a:endParaRPr/>
          </a:p>
        </p:txBody>
      </p:sp>
      <p:pic>
        <p:nvPicPr>
          <p:cNvPr id="182" name="Google Shape;18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58250"/>
            <a:ext cx="12039598" cy="5799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7"/>
          <p:cNvSpPr/>
          <p:nvPr/>
        </p:nvSpPr>
        <p:spPr>
          <a:xfrm>
            <a:off x="0" y="0"/>
            <a:ext cx="12192000" cy="503400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FINAL</a:t>
            </a:r>
            <a:endParaRPr/>
          </a:p>
        </p:txBody>
      </p:sp>
      <p:sp>
        <p:nvSpPr>
          <p:cNvPr id="188" name="Google Shape;188;p27"/>
          <p:cNvSpPr/>
          <p:nvPr/>
        </p:nvSpPr>
        <p:spPr>
          <a:xfrm>
            <a:off x="0" y="503434"/>
            <a:ext cx="12192000" cy="554700"/>
          </a:xfrm>
          <a:prstGeom prst="rect">
            <a:avLst/>
          </a:prstGeom>
          <a:solidFill>
            <a:srgbClr val="2E75B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INTERFAZ DE ENTRADA</a:t>
            </a:r>
            <a:endParaRPr/>
          </a:p>
        </p:txBody>
      </p:sp>
      <p:pic>
        <p:nvPicPr>
          <p:cNvPr id="189" name="Google Shape;18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250" y="1199834"/>
            <a:ext cx="11053493" cy="54950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8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FINAL</a:t>
            </a:r>
            <a:endParaRPr/>
          </a:p>
        </p:txBody>
      </p:sp>
      <p:sp>
        <p:nvSpPr>
          <p:cNvPr id="195" name="Google Shape;195;p28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rgbClr val="2E75B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INTERFAZ DE SALIDA</a:t>
            </a:r>
            <a:endParaRPr/>
          </a:p>
        </p:txBody>
      </p:sp>
      <p:pic>
        <p:nvPicPr>
          <p:cNvPr id="196" name="Google Shape;19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713" y="1199938"/>
            <a:ext cx="10938570" cy="5494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9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FINAL</a:t>
            </a:r>
            <a:endParaRPr/>
          </a:p>
        </p:txBody>
      </p:sp>
      <p:sp>
        <p:nvSpPr>
          <p:cNvPr id="202" name="Google Shape;202;p29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rgbClr val="2E75B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PRUEBAS  DE SISTEMAS DE INFORMACIÓN</a:t>
            </a:r>
            <a:endParaRPr/>
          </a:p>
        </p:txBody>
      </p:sp>
      <p:sp>
        <p:nvSpPr>
          <p:cNvPr id="203" name="Google Shape;203;p29"/>
          <p:cNvSpPr txBox="1"/>
          <p:nvPr/>
        </p:nvSpPr>
        <p:spPr>
          <a:xfrm>
            <a:off x="0" y="1058250"/>
            <a:ext cx="12192000" cy="56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AutoNum type="arabicPeriod"/>
            </a:pPr>
            <a:r>
              <a:rPr b="1" lang="es-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Pruebas del Backend Principal (Node.js)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backend en Node.js concentra la mayor parte de la cobertura de pruebas en el directorio backend-node/tests/. Las pruebas están fuertemente enfocadas en validar la lógica de negocio, la seguridad perimetral y el rendimiento mediante el manejo de caché.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b="1" lang="es-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Autenticación y Seguridad: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○"/>
            </a:pPr>
            <a:r>
              <a:rPr lang="es-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verifica la lógica central del servicio de autenticación (auth.service.test.js).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○"/>
            </a:pPr>
            <a:r>
              <a:rPr lang="es-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prueban las reglas de validación de entrada (auth.validation.test.js).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○"/>
            </a:pPr>
            <a:r>
              <a:rPr lang="es-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evalúa la persistencia y expiración en la caché de autenticación (auth.cache.test.js).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○"/>
            </a:pPr>
            <a:r>
              <a:rPr lang="es-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comprueba la correcta invalidación de tokens en caché (auth.invalidacion.test.js).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○"/>
            </a:pPr>
            <a:r>
              <a:rPr lang="es-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Existe validación específica para el bloqueo de accesos mediante listas negras (blacklist.test.js).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b="1" lang="es-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de Usuarios (Instruidos y Perfiles Médicos):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○"/>
            </a:pPr>
            <a:r>
              <a:rPr lang="es-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prueban los permisos y autorizaciones vinculados a los instruidos (instruido.service.auth.test.js).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○"/>
            </a:pPr>
            <a:r>
              <a:rPr lang="es-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verifica la integridad de los datos de los usuarios instruidos (instruido.validation.test.js).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○"/>
            </a:pPr>
            <a:r>
              <a:rPr lang="es-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comprueban las funcionalidades de los perfiles médicos (perfil-medico.service.test.js).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b="1" lang="es-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de Entrenamientos y Dietas: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○"/>
            </a:pPr>
            <a:r>
              <a:rPr lang="es-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valida la asignación de rutinas (rutinas-asignadas.service.test.js) y las autorizaciones requeridas en sus controladores (rutinas-asignadas.controller.auth.test.js).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○"/>
            </a:pPr>
            <a:r>
              <a:rPr lang="es-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aprueba el correcto registro del progreso de entrenamiento (registro-entrenamiento.test.js).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○"/>
            </a:pPr>
            <a:r>
              <a:rPr lang="es-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verifica la gestión de ejercicios (ejercicios.service.test.js) y la duración de estos datos en caché (ejercicios.ttl.test.js).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○"/>
            </a:pPr>
            <a:r>
              <a:rPr lang="es-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validan los servicios relacionados con los planes de alimentación (dietas.service.test.js).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○"/>
            </a:pPr>
            <a:r>
              <a:rPr lang="es-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manejo de plantillas cuenta con pruebas para los controladores, almacenamiento en caché y su respectiva invalidación (plantillas.controller.auth.test.js, plantillas.cache.test.js, plantillas.invalidacion.test.js).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0"/>
          <p:cNvSpPr/>
          <p:nvPr/>
        </p:nvSpPr>
        <p:spPr>
          <a:xfrm>
            <a:off x="0" y="0"/>
            <a:ext cx="12192000" cy="503400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FINAL</a:t>
            </a:r>
            <a:endParaRPr/>
          </a:p>
        </p:txBody>
      </p:sp>
      <p:sp>
        <p:nvSpPr>
          <p:cNvPr id="209" name="Google Shape;209;p30"/>
          <p:cNvSpPr/>
          <p:nvPr/>
        </p:nvSpPr>
        <p:spPr>
          <a:xfrm>
            <a:off x="0" y="503434"/>
            <a:ext cx="12192000" cy="554700"/>
          </a:xfrm>
          <a:prstGeom prst="rect">
            <a:avLst/>
          </a:prstGeom>
          <a:solidFill>
            <a:srgbClr val="2E75B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PRUEBAS  DE SISTEMAS DE INFORMACIÓN</a:t>
            </a:r>
            <a:endParaRPr/>
          </a:p>
        </p:txBody>
      </p:sp>
      <p:sp>
        <p:nvSpPr>
          <p:cNvPr id="210" name="Google Shape;210;p30"/>
          <p:cNvSpPr txBox="1"/>
          <p:nvPr/>
        </p:nvSpPr>
        <p:spPr>
          <a:xfrm>
            <a:off x="0" y="1058250"/>
            <a:ext cx="12192000" cy="56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b="1" lang="es-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 de Pagos: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○"/>
            </a:pPr>
            <a:r>
              <a:rPr lang="es-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evalúa la persistencia temporal en caché de la información de transacciones (pagos.cache.test.js).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○"/>
            </a:pPr>
            <a:r>
              <a:rPr lang="es-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verifica la correcta destrucción de la caché tras la actualización de un estado de pago (pagos.invalidacion.test.js).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b="1" lang="es-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Reportes Analíticos: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○"/>
            </a:pPr>
            <a:r>
              <a:rPr lang="es-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prueban las funciones generadoras de reportes (reportes.test.js).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○"/>
            </a:pPr>
            <a:r>
              <a:rPr lang="es-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certifica el rendimiento de las métricas probando su almacenamiento en caché (reportes.cache.test.js) y su ciclo de vida (reportes.ttl.test.js).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b="1" lang="es-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Integración e Infraestructura: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○"/>
            </a:pPr>
            <a:r>
              <a:rPr lang="es-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valida el funcionamiento global de la caché y el registro de sus métricas (cache.test.js, cache.metricas.test.js).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○"/>
            </a:pPr>
            <a:r>
              <a:rPr lang="es-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prueba el cliente HTTP interno responsable de comunicar el entorno Node con el motor de Flask (flask-client.test.js).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○"/>
            </a:pPr>
            <a:r>
              <a:rPr lang="es-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evalúan las validaciones enviadas a la capa HITL (</a:t>
            </a:r>
            <a:r>
              <a:rPr i="1" lang="es-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Human-In-The-Loop</a:t>
            </a:r>
            <a:r>
              <a:rPr lang="es-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(hitl.service.validate.test.js).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Pruebas del Backend Secundario (Python/Flask)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s-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pruebas relacionadas con el motor de IA, reglas y cálculos avanzados están localizadas en backend-flask/tests/: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Servicios Críticos:</a:t>
            </a:r>
            <a:r>
              <a:rPr lang="es-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cuenta con un conjunto de pruebas diseñadas para el servicio "Guardian" (test_guardian.py), el cual funciona como barrera de seguridad o validador de las recomendaciones de entrenamiento y nutrición.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Pruebas Criptográficas Globales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s-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nivel global, en el directorio tests/, existe un módulo enfocado en certificar los algoritmos de utilidad y seguridad criptográfica (crypto.test.js).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Automatización y Agentes de Testing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s-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repositorio está configurado para la automatización e integración continua de estas pruebas, delegando responsabilidades en herramientas internas de OpenCode: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s-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define un agente autónomo exclusivo para las labores de aseguramiento de calidad (QA) y pruebas (.opencode/agent/tester.md).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s-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incluye una configuración de comandos dedicada para disparar las baterías de prueba (.opencode/command/test.md).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1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FINAL</a:t>
            </a:r>
            <a:endParaRPr/>
          </a:p>
        </p:txBody>
      </p:sp>
      <p:sp>
        <p:nvSpPr>
          <p:cNvPr id="216" name="Google Shape;216;p31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rgbClr val="2E75B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PLAN DE MANTENIMIENTO</a:t>
            </a:r>
            <a:endParaRPr/>
          </a:p>
        </p:txBody>
      </p:sp>
      <p:sp>
        <p:nvSpPr>
          <p:cNvPr id="217" name="Google Shape;217;p31"/>
          <p:cNvSpPr txBox="1"/>
          <p:nvPr/>
        </p:nvSpPr>
        <p:spPr>
          <a:xfrm>
            <a:off x="75" y="1058250"/>
            <a:ext cx="12192000" cy="57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Necesidades a evaluar del mantenimiento del sistema web: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Paso 1: Auditar el rendimiento actual del sitio web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Empezaría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evaluar la velocidad, la compatibilidad móvil y la funcionalidad general del sistema web. Pienso que puedo utilizar herramientas como Google PageSpeed Insights para comprobar los tiempos de carga en dispositivos de sobremesa y móviles. Además, asegurandome que el sistema web es apto para móviles probándolo en distintos dispositivos y evaluándolo en el informe para móviles de Google Search Console.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Paso 2: Identificar las necesidades de seguridad del sistema y el cumplimiento normativo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Tendré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realizar un manual de seguridad del sistema para llevar un seguimiento de cosas a revisar y cumplir con la seguridad del sistema, por ejemplo como certificados SSL, reglas de cortafuegos y/o escáneres de seguridad. Luego revisar si el sistema necesita cumplir un normativo, por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último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evalúan las necesidades de privacidad de datos y copias de seguridad en función de tu postura de seguridad requerida.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Paso 3: Evaluar la </a:t>
            </a: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</a:t>
            </a: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como voy a evaluar el contenido 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Definir si el contenido del sistema debe ser un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mantenimiento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semanal, mensual o trimestral. Eso se define luego de evaluar las páginas o áreas clave en las que necesite garantizar el rendimiento y desarrollar un plan de actualizaciones o añadir algunas funciones nuevas.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Paso 4: Analizar las necesidades de mantenimiento técnico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Evaluar el código base de tu sitio web en busca de algunas bibliotecas obsoletas o algunas bibliotecas que funcionen mejor. Comprobar regularmente los registros de errores del sistema web para identificar problemas ocultos que puedan afectar al rendimiento o a la compatibilidad. Además, se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evalúa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si el entorno de alojamiento satisface las necesidades de tu sitio web en términos de ancho de banda, almacenamiento y tiempo de actividad del servidor.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Paso 5: Estimar recursos y presupuesto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Después de crear una lista de tareas de mantenimiento del sistema web, el siguiente paso es estimar el coste y los recursos. Identificar el coste de cualquier herramienta o proveedor externo que sea necesario. Este es el último paso es el plan de ejecución del mantenimiento del sistema web.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2"/>
          <p:cNvSpPr/>
          <p:nvPr/>
        </p:nvSpPr>
        <p:spPr>
          <a:xfrm>
            <a:off x="0" y="0"/>
            <a:ext cx="12192000" cy="503400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FINAL</a:t>
            </a:r>
            <a:endParaRPr/>
          </a:p>
        </p:txBody>
      </p:sp>
      <p:sp>
        <p:nvSpPr>
          <p:cNvPr id="223" name="Google Shape;223;p32"/>
          <p:cNvSpPr/>
          <p:nvPr/>
        </p:nvSpPr>
        <p:spPr>
          <a:xfrm>
            <a:off x="0" y="503434"/>
            <a:ext cx="12192000" cy="554700"/>
          </a:xfrm>
          <a:prstGeom prst="rect">
            <a:avLst/>
          </a:prstGeom>
          <a:solidFill>
            <a:srgbClr val="2E75B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PLAN DE MANTENIMIENTO</a:t>
            </a:r>
            <a:endParaRPr/>
          </a:p>
        </p:txBody>
      </p:sp>
      <p:sp>
        <p:nvSpPr>
          <p:cNvPr id="224" name="Google Shape;224;p32"/>
          <p:cNvSpPr txBox="1"/>
          <p:nvPr/>
        </p:nvSpPr>
        <p:spPr>
          <a:xfrm>
            <a:off x="75" y="1058250"/>
            <a:ext cx="12192000" cy="57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mantenimiento del sistema va a contar con varias fases para lograr conseguir un control y una guía mucho más segura, ya que el sistema en producción va a alojado el frontend en vercel, el backend en railway y la base de datos en aiven.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1: Preparación y notificación 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-"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Notificación: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Programar el mantenimiento en horas de bajo tráfico (mayormente va a ser en madrugada en horario de Venezuela/Maracaibo) configurando el aviso previo en el frontend.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-"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Respaldo en aiven: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va a crear un Fork temporal de la base de datos MySQL en la consola de Aiven para aislar los datos reales y probar las migraciones sin afectar el clúster principal.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-"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Código: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va a asegurar que la imagen de los contenedores estén en la rama de GitHub donde se van a asestar los cambios.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2: Aislamiento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-"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Modo mantenimiento en vercel: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vercel tienen un modo de mantenimiento que vamos a aprovechar, ya que se activa una redirección desde la configuración main hacía la vista OfflinePage.jsx devolviendo un HTTP 503 para bloquear la interacción de usuarios y realizar el mantenimiento seguro.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-"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Pausa en railway: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pausa temporalmente el tráfico entrantes a los servicios web. Revisar manualmente las queries por segundo y las conexiones activas en la consola y telemetría de aiven para asegurarnos que lleguen a cero 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3: Ejecución de migraciones y despliegue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-"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Migración de base de datos: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Conectar al host de aiven para ejecutar los scripts SQL pendientes ubicados en database/migrations/.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-"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Despliegue backend (railway):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Iniciar el deploy de la imagen de docker para el backend en flask encargado del motor HITL. Una vez que esté en verde, lanzar el despliegue del backend principal en </a:t>
            </a:r>
            <a:r>
              <a:rPr lang="es-ES" sz="1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Node.js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-"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Despliegue frontend (vercel):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Realizar la compilación final del proyecto en React integrando las nuevas variables de entorno si es que hay algunas variables nuevas.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4: Pruebas en producción (el despliegue antes de ejecutarse en producción tiene su serie de pruebas)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-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Revisar manualmente el flujo de cada uno de los módulos para detectar bugs que se crearon o detectaron en producción.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3"/>
          <p:cNvSpPr/>
          <p:nvPr/>
        </p:nvSpPr>
        <p:spPr>
          <a:xfrm>
            <a:off x="0" y="0"/>
            <a:ext cx="12192000" cy="503400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FINAL</a:t>
            </a:r>
            <a:endParaRPr/>
          </a:p>
        </p:txBody>
      </p:sp>
      <p:sp>
        <p:nvSpPr>
          <p:cNvPr id="230" name="Google Shape;230;p33"/>
          <p:cNvSpPr/>
          <p:nvPr/>
        </p:nvSpPr>
        <p:spPr>
          <a:xfrm>
            <a:off x="0" y="503434"/>
            <a:ext cx="12192000" cy="554700"/>
          </a:xfrm>
          <a:prstGeom prst="rect">
            <a:avLst/>
          </a:prstGeom>
          <a:solidFill>
            <a:srgbClr val="2E75B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PLAN DE MANTENIMIENTO</a:t>
            </a:r>
            <a:endParaRPr/>
          </a:p>
        </p:txBody>
      </p:sp>
      <p:sp>
        <p:nvSpPr>
          <p:cNvPr id="231" name="Google Shape;231;p33"/>
          <p:cNvSpPr txBox="1"/>
          <p:nvPr/>
        </p:nvSpPr>
        <p:spPr>
          <a:xfrm>
            <a:off x="0" y="1058125"/>
            <a:ext cx="12192000" cy="57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 startAt="5"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5: Restauración y Monitoreo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-"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Limpieza de Caché: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ejecuta una limpieza en la instancia de Redis gestionada a través de redis.js para forzar la invalidación de métricas y catálogos de ejercicios obsoletos.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-"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Desactivar el modo mantenimiento: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Luego de que se pasaron las pruebas pertinentes se desactiva la redirección que ejecutamos en vercel y revisamos que funcione la configuración main y reactivamos las imágenes docker en railway para permitir que el tráfico pueda seguir efectuando los servicios webs.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-"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Monitoreo activo: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Mantener abiertos los logs de Railway y el panel de consumo de RAM/CPU en Aiven durante las siguientes 24 horas para detectar cuellos de botella en el pool de conexiones o errores 500.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4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FINAL</a:t>
            </a:r>
            <a:endParaRPr/>
          </a:p>
        </p:txBody>
      </p:sp>
      <p:sp>
        <p:nvSpPr>
          <p:cNvPr id="237" name="Google Shape;237;p34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rgbClr val="2E75B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/>
          </a:p>
        </p:txBody>
      </p:sp>
      <p:sp>
        <p:nvSpPr>
          <p:cNvPr id="238" name="Google Shape;238;p34"/>
          <p:cNvSpPr txBox="1"/>
          <p:nvPr/>
        </p:nvSpPr>
        <p:spPr>
          <a:xfrm>
            <a:off x="74775" y="1153675"/>
            <a:ext cx="12039000" cy="56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-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Escalabilidad del Monolito Modular y Microservicios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-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Segura y Aislamiento de Datos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-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Mantenimiento Orquestado y Resiliencia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-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Integración Continua y Aseguramiento de Calidad (QA)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-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Sinergia del Modelo Human-in-the-Loop (HITL)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