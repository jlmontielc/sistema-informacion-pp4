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B210DA8-6101-40D1-8A98-5FA0B078F93C}">
  <a:tblStyle styleId="{6B210DA8-6101-40D1-8A98-5FA0B078F93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h1128b93950e6c98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h1128b93950e6c985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h1128b93950e6c985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h1128b93950e6c985_1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h1128b93950e6c985_1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h1128b93950e6c985_1_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h1128b93950e6c985_1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h1128b93950e6c985_1_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h1128b93950e6c985_1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h1128b93950e6c985_1_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h1128b93950e6c985_1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h1128b93950e6c985_1_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h1128b93950e6c985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h1128b93950e6c985_1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h1128b93950e6c985_1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h1128b93950e6c985_1_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h1128b93950e6c985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h1128b93950e6c985_1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h1128b93950e6c985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h1128b93950e6c985_1_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h1128b93950e6c985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h1128b93950e6c985_1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h1128b93950e6c985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h1128b93950e6c985_1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h1128b93950e6c985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h1128b93950e6c985_1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h1128b93950e6c985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h1128b93950e6c985_1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h1128b93950e6c985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h1128b93950e6c985_1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h1128b93950e6c985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h1128b93950e6c985_1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h15bab73cd0b8eed8_5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h15bab73cd0b8eed8_5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h15bab73cd0b8eed8_5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h15bab73cd0b8eed8_5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h15bab73cd0b8eed8_5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h15bab73cd0b8eed8_5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h15bab73cd0b8eed8_5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h15bab73cd0b8eed8_5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h15bab73cd0b8eed8_5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h15bab73cd0b8eed8_5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h15bab73cd0b8eed8_5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h15bab73cd0b8eed8_5_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h15bab73cd0b8eed8_5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h15bab73cd0b8eed8_5_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h15bab73cd0b8eed8_5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h15bab73cd0b8eed8_5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h15bab73cd0b8eed8_5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h15bab73cd0b8eed8_5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h42635bee3f2aee1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h42635bee3f2aee1d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rgbClr val="1E4E79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PROYECTO FINAL</a:t>
            </a: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rgbClr val="2E75B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DICCIONARIO DE DATOS - BD</a:t>
            </a:r>
            <a:endParaRPr/>
          </a:p>
        </p:txBody>
      </p:sp>
      <p:graphicFrame>
        <p:nvGraphicFramePr>
          <p:cNvPr id="86" name="Google Shape;86;p13"/>
          <p:cNvGraphicFramePr/>
          <p:nvPr/>
        </p:nvGraphicFramePr>
        <p:xfrm>
          <a:off x="950650" y="2056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{6B210DA8-6101-40D1-8A98-5FA0B078F93C}</a:tableStyleId>
              </a:tblPr>
              <a:tblGrid>
                <a:gridCol w="3429000"/>
                <a:gridCol w="3429000"/>
                <a:gridCol w="3429000"/>
              </a:tblGrid>
              <a:tr h="385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highlight>
                            <a:srgbClr val="2E75B5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CAMPO</a:t>
                      </a:r>
                      <a:endParaRPr>
                        <a:solidFill>
                          <a:schemeClr val="lt1"/>
                        </a:solidFill>
                        <a:highlight>
                          <a:srgbClr val="2E75B5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highlight>
                            <a:srgbClr val="2E75B5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TIPO</a:t>
                      </a:r>
                      <a:endParaRPr>
                        <a:solidFill>
                          <a:schemeClr val="lt1"/>
                        </a:solidFill>
                        <a:highlight>
                          <a:srgbClr val="2E75B5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highlight>
                            <a:srgbClr val="2E75B5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DESCRIPCIÓN</a:t>
                      </a:r>
                      <a:endParaRPr>
                        <a:solidFill>
                          <a:schemeClr val="lt1"/>
                        </a:solidFill>
                        <a:highlight>
                          <a:srgbClr val="2E75B5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 + PK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Identificador 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único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para cada entrenador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nombre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Nombre completo del entrenador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email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Correo 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electrónico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del entrenador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password_hash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Hash de seguridad de la contraseña del entrenador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especialidad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Área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en la que se especializa el entrenador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rol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Rol o nivel de privilegios dentro del sistema (aca va entrenador o admin)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created_at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Fecha de 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creación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del registro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updated_at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Fecha de la 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última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actualización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del registro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7" name="Google Shape;87;p13"/>
          <p:cNvSpPr txBox="1"/>
          <p:nvPr/>
        </p:nvSpPr>
        <p:spPr>
          <a:xfrm>
            <a:off x="0" y="1175050"/>
            <a:ext cx="12192000" cy="7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Entidad: entrenadores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Almacena la información de los entrenadores registrados en el sistema, quienes son los que gestionan rutinas, planes y a los instruidos asignados.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0" y="0"/>
            <a:ext cx="12192000" cy="503400"/>
          </a:xfrm>
          <a:prstGeom prst="rect">
            <a:avLst/>
          </a:prstGeom>
          <a:solidFill>
            <a:srgbClr val="1E4E79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PROYECTO FINAL</a:t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0" y="503434"/>
            <a:ext cx="12192000" cy="554700"/>
          </a:xfrm>
          <a:prstGeom prst="rect">
            <a:avLst/>
          </a:prstGeom>
          <a:solidFill>
            <a:srgbClr val="2E75B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DICCIONARIO DE DATOS - BD</a:t>
            </a:r>
            <a:endParaRPr/>
          </a:p>
        </p:txBody>
      </p:sp>
      <p:graphicFrame>
        <p:nvGraphicFramePr>
          <p:cNvPr id="94" name="Google Shape;94;p14"/>
          <p:cNvGraphicFramePr/>
          <p:nvPr/>
        </p:nvGraphicFramePr>
        <p:xfrm>
          <a:off x="952500" y="2167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{6B210DA8-6101-40D1-8A98-5FA0B078F93C}</a:tableStyleId>
              </a:tblPr>
              <a:tblGrid>
                <a:gridCol w="3429000"/>
                <a:gridCol w="3429000"/>
                <a:gridCol w="3429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CAMPO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TIPO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DESCRIPCIÓN 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 + PK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Identificador 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único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del instruido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entrenador_id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 + FK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Identificador del entrenador del que es instruido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nombre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Nombre completo del instruido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email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Correo 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electrónico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del instruido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password_hash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Hash de la contraseña del instruido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edad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Edad del instruido en años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peso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float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Peso corporal del instruido en kilogramos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altura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float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Altura en 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centímetros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o metros del instruido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sexo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Género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del instruido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5" name="Google Shape;95;p14"/>
          <p:cNvSpPr txBox="1"/>
          <p:nvPr/>
        </p:nvSpPr>
        <p:spPr>
          <a:xfrm>
            <a:off x="0" y="1164950"/>
            <a:ext cx="12192000" cy="5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Entidad: instruidos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Almacena los datos personales, 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antropométricos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de control de los 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instruidos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 reciben seguimiento en la plataforma.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/>
          <p:nvPr/>
        </p:nvSpPr>
        <p:spPr>
          <a:xfrm>
            <a:off x="0" y="0"/>
            <a:ext cx="12192000" cy="503400"/>
          </a:xfrm>
          <a:prstGeom prst="rect">
            <a:avLst/>
          </a:prstGeom>
          <a:solidFill>
            <a:srgbClr val="1E4E79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PROYECTO FINAL</a:t>
            </a:r>
            <a:endParaRPr/>
          </a:p>
        </p:txBody>
      </p:sp>
      <p:sp>
        <p:nvSpPr>
          <p:cNvPr id="101" name="Google Shape;101;p15"/>
          <p:cNvSpPr/>
          <p:nvPr/>
        </p:nvSpPr>
        <p:spPr>
          <a:xfrm>
            <a:off x="0" y="503434"/>
            <a:ext cx="12192000" cy="554700"/>
          </a:xfrm>
          <a:prstGeom prst="rect">
            <a:avLst/>
          </a:prstGeom>
          <a:solidFill>
            <a:srgbClr val="2E75B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DICCIONARIO DE DATOS - BD</a:t>
            </a:r>
            <a:endParaRPr/>
          </a:p>
        </p:txBody>
      </p:sp>
      <p:graphicFrame>
        <p:nvGraphicFramePr>
          <p:cNvPr id="102" name="Google Shape;102;p15"/>
          <p:cNvGraphicFramePr/>
          <p:nvPr/>
        </p:nvGraphicFramePr>
        <p:xfrm>
          <a:off x="952500" y="1223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{6B210DA8-6101-40D1-8A98-5FA0B078F93C}</a:tableStyleId>
              </a:tblPr>
              <a:tblGrid>
                <a:gridCol w="3429000"/>
                <a:gridCol w="3429000"/>
                <a:gridCol w="3429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highlight>
                            <a:srgbClr val="2E75B5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CAMPO </a:t>
                      </a:r>
                      <a:endParaRPr>
                        <a:solidFill>
                          <a:schemeClr val="lt1"/>
                        </a:solidFill>
                        <a:highlight>
                          <a:srgbClr val="2E75B5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highlight>
                            <a:srgbClr val="2E75B5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TIPO</a:t>
                      </a:r>
                      <a:endParaRPr>
                        <a:solidFill>
                          <a:schemeClr val="lt1"/>
                        </a:solidFill>
                        <a:highlight>
                          <a:srgbClr val="2E75B5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highlight>
                            <a:srgbClr val="2E75B5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DESCRIPCIÓN</a:t>
                      </a:r>
                      <a:endParaRPr>
                        <a:solidFill>
                          <a:schemeClr val="lt1"/>
                        </a:solidFill>
                        <a:highlight>
                          <a:srgbClr val="2E75B5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nivel_actividad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Nivel actual de actividad 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física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del instruido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nivel_experiencia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 experiencia anteriormente tiene el instruido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proposito_entrenamiento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 objetivo principal tiene el instruido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dias_disponibles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Cantidad de 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días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disponibles por semana para poder entrenar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fecha_registro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Fecha de registro en el sistema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boolean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Estado de la cuenta (si se encuentra activo o inactivo)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created_at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Fecha de 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creación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del instruido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updated_at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Fecha de 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actualización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del instruido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rol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Rol asignado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dias_semana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json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Estructura en formato JSON para especificar 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qué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dias de la semana tiene disponible el instruido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/>
          <p:nvPr/>
        </p:nvSpPr>
        <p:spPr>
          <a:xfrm>
            <a:off x="0" y="0"/>
            <a:ext cx="12192000" cy="503400"/>
          </a:xfrm>
          <a:prstGeom prst="rect">
            <a:avLst/>
          </a:prstGeom>
          <a:solidFill>
            <a:srgbClr val="1E4E79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PROYECTO FINAL</a:t>
            </a:r>
            <a:endParaRPr/>
          </a:p>
        </p:txBody>
      </p:sp>
      <p:sp>
        <p:nvSpPr>
          <p:cNvPr id="108" name="Google Shape;108;p16"/>
          <p:cNvSpPr/>
          <p:nvPr/>
        </p:nvSpPr>
        <p:spPr>
          <a:xfrm>
            <a:off x="0" y="503434"/>
            <a:ext cx="12192000" cy="554700"/>
          </a:xfrm>
          <a:prstGeom prst="rect">
            <a:avLst/>
          </a:prstGeom>
          <a:solidFill>
            <a:srgbClr val="2E75B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DICCIONARIO DE DATOS - BD</a:t>
            </a:r>
            <a:endParaRPr/>
          </a:p>
        </p:txBody>
      </p:sp>
      <p:graphicFrame>
        <p:nvGraphicFramePr>
          <p:cNvPr id="109" name="Google Shape;109;p16"/>
          <p:cNvGraphicFramePr/>
          <p:nvPr/>
        </p:nvGraphicFramePr>
        <p:xfrm>
          <a:off x="952500" y="2131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{6B210DA8-6101-40D1-8A98-5FA0B078F93C}</a:tableStyleId>
              </a:tblPr>
              <a:tblGrid>
                <a:gridCol w="3429000"/>
                <a:gridCol w="3429000"/>
                <a:gridCol w="3429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CAMPO 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TIPO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DESCRIPCIÓN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 +PK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Identificador único del ejercicio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nombre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Nombre descriptivo del ejercicio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descripcion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Detalle o el 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cómo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se ejecuta el ejercicio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grupo_muscular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Grupo muscular principal que trabaja ese ejercicio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equipo_necesario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Implementos requeridos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dificultad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Nivel de complejidad del ejercicio: principiante, intermedio o avanzado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contraindica_lesiones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Restricciones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médicas o lesiones asociadas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created_at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Fecha de 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creación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del ejercicio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0" name="Google Shape;110;p16"/>
          <p:cNvSpPr txBox="1"/>
          <p:nvPr/>
        </p:nvSpPr>
        <p:spPr>
          <a:xfrm>
            <a:off x="-50" y="1110950"/>
            <a:ext cx="12192000" cy="7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Entidad: 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jercicios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Catálogo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maestro que almacena una cantidad de ejercicios disponibles diferentes para conformar las rutinas de entrenamiento sacado del repositorio: https://github.com/hasaneyldrm/exercises-dataset/tree/main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/>
          <p:nvPr/>
        </p:nvSpPr>
        <p:spPr>
          <a:xfrm>
            <a:off x="0" y="0"/>
            <a:ext cx="12192000" cy="503400"/>
          </a:xfrm>
          <a:prstGeom prst="rect">
            <a:avLst/>
          </a:prstGeom>
          <a:solidFill>
            <a:srgbClr val="1E4E79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PROYECTO FINAL</a:t>
            </a:r>
            <a:endParaRPr/>
          </a:p>
        </p:txBody>
      </p:sp>
      <p:sp>
        <p:nvSpPr>
          <p:cNvPr id="116" name="Google Shape;116;p17"/>
          <p:cNvSpPr/>
          <p:nvPr/>
        </p:nvSpPr>
        <p:spPr>
          <a:xfrm>
            <a:off x="0" y="503434"/>
            <a:ext cx="12192000" cy="554700"/>
          </a:xfrm>
          <a:prstGeom prst="rect">
            <a:avLst/>
          </a:prstGeom>
          <a:solidFill>
            <a:srgbClr val="2E75B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DICCIONARIO DE DATOS - BD</a:t>
            </a:r>
            <a:endParaRPr/>
          </a:p>
        </p:txBody>
      </p:sp>
      <p:graphicFrame>
        <p:nvGraphicFramePr>
          <p:cNvPr id="117" name="Google Shape;117;p17"/>
          <p:cNvGraphicFramePr/>
          <p:nvPr/>
        </p:nvGraphicFramePr>
        <p:xfrm>
          <a:off x="952500" y="171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{6B210DA8-6101-40D1-8A98-5FA0B078F93C}</a:tableStyleId>
              </a:tblPr>
              <a:tblGrid>
                <a:gridCol w="3429000"/>
                <a:gridCol w="3429000"/>
                <a:gridCol w="3429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CAMPO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TIPO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DESCRIPCIÓN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updated_at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Fecha de actualización del ejercicio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instrucciones_es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Instrucciones paso a paso en español de como hacer el ejercicio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musculos_secundarios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json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Lista de 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músculos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secundarios en formato JSON que trabaja ese ejercicio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imagen_url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Ruta o enlace a la imagen ilustrativa del ejercicio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gif_url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Ruta o enlace a la 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animación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del movimiento del ejercicio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/>
          <p:nvPr/>
        </p:nvSpPr>
        <p:spPr>
          <a:xfrm>
            <a:off x="0" y="0"/>
            <a:ext cx="12192000" cy="503400"/>
          </a:xfrm>
          <a:prstGeom prst="rect">
            <a:avLst/>
          </a:prstGeom>
          <a:solidFill>
            <a:srgbClr val="1E4E79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PROYECTO FINAL</a:t>
            </a:r>
            <a:endParaRPr/>
          </a:p>
        </p:txBody>
      </p:sp>
      <p:sp>
        <p:nvSpPr>
          <p:cNvPr id="123" name="Google Shape;123;p18"/>
          <p:cNvSpPr/>
          <p:nvPr/>
        </p:nvSpPr>
        <p:spPr>
          <a:xfrm>
            <a:off x="0" y="503434"/>
            <a:ext cx="12192000" cy="554700"/>
          </a:xfrm>
          <a:prstGeom prst="rect">
            <a:avLst/>
          </a:prstGeom>
          <a:solidFill>
            <a:srgbClr val="2E75B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DICCIONARIO DE DATOS - BD</a:t>
            </a:r>
            <a:endParaRPr/>
          </a:p>
        </p:txBody>
      </p:sp>
      <p:graphicFrame>
        <p:nvGraphicFramePr>
          <p:cNvPr id="124" name="Google Shape;124;p18"/>
          <p:cNvGraphicFramePr/>
          <p:nvPr/>
        </p:nvGraphicFramePr>
        <p:xfrm>
          <a:off x="963175" y="2199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{6B210DA8-6101-40D1-8A98-5FA0B078F93C}</a:tableStyleId>
              </a:tblPr>
              <a:tblGrid>
                <a:gridCol w="3429000"/>
                <a:gridCol w="3429000"/>
                <a:gridCol w="3429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CAMPO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TIPO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DESCRIPCIÓN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 + PK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Identificador 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único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 la plantilla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entrenador_id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 + FK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Creador de la plantilla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nombre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Nombre de la plantilla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descripcion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Descripción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 la 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planificación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 la rutilla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tipo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TIpo de la rutina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ejercicios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json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Estructura JSON con los ejercicios que componen la rutina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frecuencia_remanal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Días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por semanas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duracion_semanas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Duración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total del ciclo en semanas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objetivo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Meta principal de la plantilla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5" name="Google Shape;125;p18"/>
          <p:cNvSpPr txBox="1"/>
          <p:nvPr/>
        </p:nvSpPr>
        <p:spPr>
          <a:xfrm>
            <a:off x="10675" y="1100275"/>
            <a:ext cx="12192000" cy="10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Entidad: plantillas_entrenamiento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Plantillas predefinidas de rutinas creadas por los entrenadores para ser 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asignadas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forma masivamente o de forma personalizada si se le ajusta alguna cosa dependiendo del instruido.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/>
          <p:nvPr/>
        </p:nvSpPr>
        <p:spPr>
          <a:xfrm>
            <a:off x="0" y="0"/>
            <a:ext cx="12192000" cy="503400"/>
          </a:xfrm>
          <a:prstGeom prst="rect">
            <a:avLst/>
          </a:prstGeom>
          <a:solidFill>
            <a:srgbClr val="1E4E79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PROYECTO FINAL</a:t>
            </a:r>
            <a:endParaRPr/>
          </a:p>
        </p:txBody>
      </p:sp>
      <p:sp>
        <p:nvSpPr>
          <p:cNvPr id="131" name="Google Shape;131;p19"/>
          <p:cNvSpPr/>
          <p:nvPr/>
        </p:nvSpPr>
        <p:spPr>
          <a:xfrm>
            <a:off x="0" y="503434"/>
            <a:ext cx="12192000" cy="554700"/>
          </a:xfrm>
          <a:prstGeom prst="rect">
            <a:avLst/>
          </a:prstGeom>
          <a:solidFill>
            <a:srgbClr val="2E75B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DICCIONARIO DE DATOS - BD</a:t>
            </a:r>
            <a:endParaRPr/>
          </a:p>
        </p:txBody>
      </p:sp>
      <p:graphicFrame>
        <p:nvGraphicFramePr>
          <p:cNvPr id="132" name="Google Shape;132;p19"/>
          <p:cNvGraphicFramePr/>
          <p:nvPr/>
        </p:nvGraphicFramePr>
        <p:xfrm>
          <a:off x="952500" y="171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{6B210DA8-6101-40D1-8A98-5FA0B078F93C}</a:tableStyleId>
              </a:tblPr>
              <a:tblGrid>
                <a:gridCol w="3429000"/>
                <a:gridCol w="3429000"/>
                <a:gridCol w="3429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CAMPO 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TIPO 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DESCRIPCIÓN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nivel_dificultad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Dificultad de la plantilla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activo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boolean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Estado de vigencia de la plantilla (activo o inactivo)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created_at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Fecha de 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creación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 la plantilla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updated_at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Fecha de actualización de la plantilla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dias_semana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json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Distribución semanal con la estructura JSON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/>
          <p:nvPr/>
        </p:nvSpPr>
        <p:spPr>
          <a:xfrm>
            <a:off x="0" y="0"/>
            <a:ext cx="12192000" cy="503400"/>
          </a:xfrm>
          <a:prstGeom prst="rect">
            <a:avLst/>
          </a:prstGeom>
          <a:solidFill>
            <a:srgbClr val="1E4E79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PROYECTO FINAL</a:t>
            </a:r>
            <a:endParaRPr/>
          </a:p>
        </p:txBody>
      </p:sp>
      <p:sp>
        <p:nvSpPr>
          <p:cNvPr id="138" name="Google Shape;138;p20"/>
          <p:cNvSpPr/>
          <p:nvPr/>
        </p:nvSpPr>
        <p:spPr>
          <a:xfrm>
            <a:off x="0" y="503434"/>
            <a:ext cx="12192000" cy="554700"/>
          </a:xfrm>
          <a:prstGeom prst="rect">
            <a:avLst/>
          </a:prstGeom>
          <a:solidFill>
            <a:srgbClr val="2E75B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DICCIONARIO DE DATOS - BD</a:t>
            </a:r>
            <a:endParaRPr/>
          </a:p>
        </p:txBody>
      </p:sp>
      <p:graphicFrame>
        <p:nvGraphicFramePr>
          <p:cNvPr id="139" name="Google Shape;139;p20"/>
          <p:cNvGraphicFramePr/>
          <p:nvPr/>
        </p:nvGraphicFramePr>
        <p:xfrm>
          <a:off x="952500" y="1778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{6B210DA8-6101-40D1-8A98-5FA0B078F93C}</a:tableStyleId>
              </a:tblPr>
              <a:tblGrid>
                <a:gridCol w="3429000"/>
                <a:gridCol w="3429000"/>
                <a:gridCol w="3429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CAMPO 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TIPO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DESCRIPCIÓN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 + PK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Identificador 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único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 la 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asignación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cliente_id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 + FK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Identificador del instruido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plantilla_origen_id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 + FK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Plantilla base utilizada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entrenador_id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 + FK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Identificador del entrenador que realiza la asignación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nombre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Nombre de la rutina asignada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ejercicios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json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Detalle de los ejercicios asignados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frecuencia_semanal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Cantidad de 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días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en la semana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74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duracion_semanas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Duracion en semanas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74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observaciones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Notas o recomendaciones del entrenador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74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personalizada_por_entrenador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boolean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Indica si fue o no modificada manualmente por el entrenador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0" name="Google Shape;140;p20"/>
          <p:cNvSpPr txBox="1"/>
          <p:nvPr/>
        </p:nvSpPr>
        <p:spPr>
          <a:xfrm>
            <a:off x="0" y="1058125"/>
            <a:ext cx="12192000" cy="5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Entidad: rutinas_asignadas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Relaciona a un instruido con una rutina o plantilla 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específica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asignada para su ejecución y seguimiento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/>
          <p:nvPr/>
        </p:nvSpPr>
        <p:spPr>
          <a:xfrm>
            <a:off x="0" y="0"/>
            <a:ext cx="12192000" cy="503400"/>
          </a:xfrm>
          <a:prstGeom prst="rect">
            <a:avLst/>
          </a:prstGeom>
          <a:solidFill>
            <a:srgbClr val="1E4E79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PROYECTO FINAL</a:t>
            </a:r>
            <a:endParaRPr/>
          </a:p>
        </p:txBody>
      </p:sp>
      <p:sp>
        <p:nvSpPr>
          <p:cNvPr id="146" name="Google Shape;146;p21"/>
          <p:cNvSpPr/>
          <p:nvPr/>
        </p:nvSpPr>
        <p:spPr>
          <a:xfrm>
            <a:off x="0" y="503434"/>
            <a:ext cx="12192000" cy="554700"/>
          </a:xfrm>
          <a:prstGeom prst="rect">
            <a:avLst/>
          </a:prstGeom>
          <a:solidFill>
            <a:srgbClr val="2E75B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DICCIONARIO DE DATOS - BD</a:t>
            </a:r>
            <a:endParaRPr/>
          </a:p>
        </p:txBody>
      </p:sp>
      <p:graphicFrame>
        <p:nvGraphicFramePr>
          <p:cNvPr id="147" name="Google Shape;147;p21"/>
          <p:cNvGraphicFramePr/>
          <p:nvPr/>
        </p:nvGraphicFramePr>
        <p:xfrm>
          <a:off x="952500" y="171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{6B210DA8-6101-40D1-8A98-5FA0B078F93C}</a:tableStyleId>
              </a:tblPr>
              <a:tblGrid>
                <a:gridCol w="3429000"/>
                <a:gridCol w="3429000"/>
                <a:gridCol w="3429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CAMPO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TIPO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DESCRIPCIÓN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decision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Estado o 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decisión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 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aprobación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o cambio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fecha_inicio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Fecha de comienzo del plan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fecha_fin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Fecha donde termina el plan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activa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boolean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Indica si esta vigente esta rutina o no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created_at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Fecha de 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asignación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 la rutina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updated_at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Fecha de la 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última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modificación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 la rutina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dias_semana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json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Días asignados de la semana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eliminado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boolean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Bandera 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lógica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 eliminado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/>
          <p:nvPr/>
        </p:nvSpPr>
        <p:spPr>
          <a:xfrm>
            <a:off x="0" y="0"/>
            <a:ext cx="12192000" cy="503400"/>
          </a:xfrm>
          <a:prstGeom prst="rect">
            <a:avLst/>
          </a:prstGeom>
          <a:solidFill>
            <a:srgbClr val="1E4E79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PROYECTO FINAL</a:t>
            </a:r>
            <a:endParaRPr/>
          </a:p>
        </p:txBody>
      </p:sp>
      <p:sp>
        <p:nvSpPr>
          <p:cNvPr id="153" name="Google Shape;153;p22"/>
          <p:cNvSpPr/>
          <p:nvPr/>
        </p:nvSpPr>
        <p:spPr>
          <a:xfrm>
            <a:off x="0" y="503434"/>
            <a:ext cx="12192000" cy="554700"/>
          </a:xfrm>
          <a:prstGeom prst="rect">
            <a:avLst/>
          </a:prstGeom>
          <a:solidFill>
            <a:srgbClr val="2E75B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DICCIONARIO DE DATOS - BD</a:t>
            </a:r>
            <a:endParaRPr/>
          </a:p>
        </p:txBody>
      </p:sp>
      <p:graphicFrame>
        <p:nvGraphicFramePr>
          <p:cNvPr id="154" name="Google Shape;154;p22"/>
          <p:cNvGraphicFramePr/>
          <p:nvPr/>
        </p:nvGraphicFramePr>
        <p:xfrm>
          <a:off x="952500" y="183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{6B210DA8-6101-40D1-8A98-5FA0B078F93C}</a:tableStyleId>
              </a:tblPr>
              <a:tblGrid>
                <a:gridCol w="3429000"/>
                <a:gridCol w="3429000"/>
                <a:gridCol w="3429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CAMPO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TIPO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DESCRIPCIÓN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 + PK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Identificador 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único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del pago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cliente_id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 + FK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Instruido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que 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efectúa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el pago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entrenador_id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 + FK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Entrenador que recibe el pago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plan_id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 + FK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Plan que 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está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pagando el instruido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metodo_pago_id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 + FK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Método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 pago utilizado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monto_usd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float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Monto total expresado en 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dólares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monto_bs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float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Monto total expresado en 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bolívares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tasa_aplicada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float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Tasa de cambio utilizada en la transacción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referencia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Número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 referencia del pago bancario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fecha_pago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Fecha en la que se 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realizó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el pago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comprobante_mime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Tipo de archivo del comprobante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5" name="Google Shape;155;p22"/>
          <p:cNvSpPr txBox="1"/>
          <p:nvPr/>
        </p:nvSpPr>
        <p:spPr>
          <a:xfrm>
            <a:off x="28500" y="1058125"/>
            <a:ext cx="12135000" cy="6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Entidad: pagos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Registra las transacciones financieras y comprobantes de pagos de los planes adquiridos por los instruidos.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/>
          <p:nvPr/>
        </p:nvSpPr>
        <p:spPr>
          <a:xfrm>
            <a:off x="0" y="0"/>
            <a:ext cx="12192000" cy="503400"/>
          </a:xfrm>
          <a:prstGeom prst="rect">
            <a:avLst/>
          </a:prstGeom>
          <a:solidFill>
            <a:srgbClr val="1E4E79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PROYECTO FINAL</a:t>
            </a:r>
            <a:endParaRPr/>
          </a:p>
        </p:txBody>
      </p:sp>
      <p:sp>
        <p:nvSpPr>
          <p:cNvPr id="161" name="Google Shape;161;p23"/>
          <p:cNvSpPr/>
          <p:nvPr/>
        </p:nvSpPr>
        <p:spPr>
          <a:xfrm>
            <a:off x="0" y="503434"/>
            <a:ext cx="12192000" cy="554700"/>
          </a:xfrm>
          <a:prstGeom prst="rect">
            <a:avLst/>
          </a:prstGeom>
          <a:solidFill>
            <a:srgbClr val="2E75B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DICCIONARIO DE DATOS - BD</a:t>
            </a:r>
            <a:endParaRPr/>
          </a:p>
        </p:txBody>
      </p:sp>
      <p:graphicFrame>
        <p:nvGraphicFramePr>
          <p:cNvPr id="162" name="Google Shape;162;p23"/>
          <p:cNvGraphicFramePr/>
          <p:nvPr/>
        </p:nvGraphicFramePr>
        <p:xfrm>
          <a:off x="952500" y="171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{6B210DA8-6101-40D1-8A98-5FA0B078F93C}</a:tableStyleId>
              </a:tblPr>
              <a:tblGrid>
                <a:gridCol w="3429000"/>
                <a:gridCol w="3429000"/>
                <a:gridCol w="3429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</a:rPr>
                        <a:t>CAMPO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</a:rPr>
                        <a:t>TIPO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</a:rPr>
                        <a:t>DESCRIPCIÓN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estado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string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Estado del pago (pendiente, verificado, rechazado)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comentario_rechazo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string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Explica el motivo del rechazo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verificado_por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int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ID del usuario Admin o entrenador que verifico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fecha_verificacion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date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Fecha de </a:t>
                      </a:r>
                      <a:r>
                        <a:rPr lang="es-ES"/>
                        <a:t>validación</a:t>
                      </a:r>
                      <a:r>
                        <a:rPr lang="es-ES"/>
                        <a:t> del pago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created_at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date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Fecha de registro en el sistema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updated_at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date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Fecha de </a:t>
                      </a:r>
                      <a:r>
                        <a:rPr lang="es-ES"/>
                        <a:t>actualización</a:t>
                      </a:r>
                      <a:r>
                        <a:rPr lang="es-ES"/>
                        <a:t>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4"/>
          <p:cNvSpPr/>
          <p:nvPr/>
        </p:nvSpPr>
        <p:spPr>
          <a:xfrm>
            <a:off x="0" y="0"/>
            <a:ext cx="12192000" cy="503400"/>
          </a:xfrm>
          <a:prstGeom prst="rect">
            <a:avLst/>
          </a:prstGeom>
          <a:solidFill>
            <a:srgbClr val="1E4E79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PROYECTO FINAL</a:t>
            </a:r>
            <a:endParaRPr/>
          </a:p>
        </p:txBody>
      </p:sp>
      <p:sp>
        <p:nvSpPr>
          <p:cNvPr id="168" name="Google Shape;168;p24"/>
          <p:cNvSpPr/>
          <p:nvPr/>
        </p:nvSpPr>
        <p:spPr>
          <a:xfrm>
            <a:off x="0" y="503434"/>
            <a:ext cx="12192000" cy="554700"/>
          </a:xfrm>
          <a:prstGeom prst="rect">
            <a:avLst/>
          </a:prstGeom>
          <a:solidFill>
            <a:srgbClr val="2E75B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DICCIONARIO DE DATOS - BD</a:t>
            </a:r>
            <a:endParaRPr/>
          </a:p>
        </p:txBody>
      </p:sp>
      <p:graphicFrame>
        <p:nvGraphicFramePr>
          <p:cNvPr id="169" name="Google Shape;169;p24"/>
          <p:cNvGraphicFramePr/>
          <p:nvPr/>
        </p:nvGraphicFramePr>
        <p:xfrm>
          <a:off x="952500" y="18671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{6B210DA8-6101-40D1-8A98-5FA0B078F93C}</a:tableStyleId>
              </a:tblPr>
              <a:tblGrid>
                <a:gridCol w="3429000"/>
                <a:gridCol w="3429000"/>
                <a:gridCol w="3429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FFFF"/>
                          </a:solidFill>
                        </a:rPr>
                        <a:t>CAMPO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FFFF"/>
                          </a:solidFill>
                        </a:rPr>
                        <a:t>TIPO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</a:rPr>
                        <a:t>DESCRIPCIÓN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id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int + PK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Identificador</a:t>
                      </a:r>
                      <a:r>
                        <a:rPr lang="es-ES"/>
                        <a:t> único de perfil médico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cliente_id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int + FK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Identificador </a:t>
                      </a:r>
                      <a:r>
                        <a:rPr lang="es-ES"/>
                        <a:t>único</a:t>
                      </a:r>
                      <a:r>
                        <a:rPr lang="es-ES"/>
                        <a:t> del instruido que tiene el perfil </a:t>
                      </a:r>
                      <a:r>
                        <a:rPr lang="es-ES"/>
                        <a:t>médico</a:t>
                      </a:r>
                      <a:r>
                        <a:rPr lang="es-ES"/>
                        <a:t>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alergias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string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Descripción</a:t>
                      </a:r>
                      <a:r>
                        <a:rPr lang="es-ES"/>
                        <a:t> de las alergias del instruido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intolerancias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string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Intolerancia </a:t>
                      </a:r>
                      <a:r>
                        <a:rPr lang="es-ES"/>
                        <a:t>alimentarias</a:t>
                      </a:r>
                      <a:r>
                        <a:rPr lang="es-ES"/>
                        <a:t> o de algun otro tipo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lesiones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string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Historial de lesiones del instruido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condiciones_preexistentes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string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Enfermedades o condiciones </a:t>
                      </a:r>
                      <a:r>
                        <a:rPr lang="es-ES"/>
                        <a:t>crónicas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medicacion_actual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string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Tratamientos o </a:t>
                      </a:r>
                      <a:r>
                        <a:rPr lang="es-ES"/>
                        <a:t>medicación</a:t>
                      </a:r>
                      <a:r>
                        <a:rPr lang="es-ES"/>
                        <a:t> del instruido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observaciones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string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Notas adicionales del entrenador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created_at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date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Fecha de </a:t>
                      </a:r>
                      <a:r>
                        <a:rPr lang="es-ES"/>
                        <a:t>creación</a:t>
                      </a:r>
                      <a:r>
                        <a:rPr lang="es-ES"/>
                        <a:t> del registro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updated_at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date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Fecha de actualización del registro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0" name="Google Shape;170;p24"/>
          <p:cNvSpPr txBox="1"/>
          <p:nvPr/>
        </p:nvSpPr>
        <p:spPr>
          <a:xfrm flipH="1">
            <a:off x="0" y="1158576"/>
            <a:ext cx="126315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Entidad: perfil_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ico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Almacena la información delicada médica, historial de lesiones y restricciones clínicas del instruido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5"/>
          <p:cNvSpPr/>
          <p:nvPr/>
        </p:nvSpPr>
        <p:spPr>
          <a:xfrm>
            <a:off x="0" y="0"/>
            <a:ext cx="12192000" cy="503400"/>
          </a:xfrm>
          <a:prstGeom prst="rect">
            <a:avLst/>
          </a:prstGeom>
          <a:solidFill>
            <a:srgbClr val="1E4E79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PROYECTO FINAL</a:t>
            </a:r>
            <a:endParaRPr/>
          </a:p>
        </p:txBody>
      </p:sp>
      <p:sp>
        <p:nvSpPr>
          <p:cNvPr id="176" name="Google Shape;176;p25"/>
          <p:cNvSpPr/>
          <p:nvPr/>
        </p:nvSpPr>
        <p:spPr>
          <a:xfrm>
            <a:off x="0" y="503434"/>
            <a:ext cx="12192000" cy="554700"/>
          </a:xfrm>
          <a:prstGeom prst="rect">
            <a:avLst/>
          </a:prstGeom>
          <a:solidFill>
            <a:srgbClr val="2E75B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DICCIONARIO DE DATOS - BD</a:t>
            </a:r>
            <a:endParaRPr/>
          </a:p>
        </p:txBody>
      </p:sp>
      <p:graphicFrame>
        <p:nvGraphicFramePr>
          <p:cNvPr id="177" name="Google Shape;177;p25"/>
          <p:cNvGraphicFramePr/>
          <p:nvPr/>
        </p:nvGraphicFramePr>
        <p:xfrm>
          <a:off x="952500" y="2108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{6B210DA8-6101-40D1-8A98-5FA0B078F93C}</a:tableStyleId>
              </a:tblPr>
              <a:tblGrid>
                <a:gridCol w="3429000"/>
                <a:gridCol w="3429000"/>
                <a:gridCol w="3429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CAMPO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TIPO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DESCRIPCIÓN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 + PK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Identificador 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único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del 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cálculo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metabólico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cliente_id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 + FK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Identificador del instruido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tmb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float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Tasa 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metabólica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basal calculada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gct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float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Gasto 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calórico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total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nivel_actividad_usado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Nivel de actividad considerado en la 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fórmula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peso_usado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float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Peso tomado como referencia del instruido para el 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cálculo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metodo_calculo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Fórmula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o 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estándar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utilizado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fecha_calculo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Fecha en la que se 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efectuó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el calculo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created_at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Fecha de registro en el sistema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8" name="Google Shape;178;p25"/>
          <p:cNvSpPr txBox="1"/>
          <p:nvPr/>
        </p:nvSpPr>
        <p:spPr>
          <a:xfrm>
            <a:off x="8100" y="1126675"/>
            <a:ext cx="12175800" cy="5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Entidad: calculos_metabolicos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Registra los 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cálculos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analiticos del metabolismo y gasto 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energético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del instruido.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6"/>
          <p:cNvSpPr/>
          <p:nvPr/>
        </p:nvSpPr>
        <p:spPr>
          <a:xfrm>
            <a:off x="0" y="0"/>
            <a:ext cx="12192000" cy="503400"/>
          </a:xfrm>
          <a:prstGeom prst="rect">
            <a:avLst/>
          </a:prstGeom>
          <a:solidFill>
            <a:srgbClr val="1E4E79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PROYECTO FINAL</a:t>
            </a:r>
            <a:endParaRPr/>
          </a:p>
        </p:txBody>
      </p:sp>
      <p:sp>
        <p:nvSpPr>
          <p:cNvPr id="184" name="Google Shape;184;p26"/>
          <p:cNvSpPr/>
          <p:nvPr/>
        </p:nvSpPr>
        <p:spPr>
          <a:xfrm>
            <a:off x="0" y="503434"/>
            <a:ext cx="12192000" cy="554700"/>
          </a:xfrm>
          <a:prstGeom prst="rect">
            <a:avLst/>
          </a:prstGeom>
          <a:solidFill>
            <a:srgbClr val="2E75B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DICCIONARIO DE DATOS - BD</a:t>
            </a:r>
            <a:endParaRPr/>
          </a:p>
        </p:txBody>
      </p:sp>
      <p:graphicFrame>
        <p:nvGraphicFramePr>
          <p:cNvPr id="185" name="Google Shape;185;p26"/>
          <p:cNvGraphicFramePr/>
          <p:nvPr/>
        </p:nvGraphicFramePr>
        <p:xfrm>
          <a:off x="968825" y="1943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{6B210DA8-6101-40D1-8A98-5FA0B078F93C}</a:tableStyleId>
              </a:tblPr>
              <a:tblGrid>
                <a:gridCol w="3429000"/>
                <a:gridCol w="3429000"/>
                <a:gridCol w="3429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CAMPO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TIPO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DESCRIPCIÓN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 + PK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Identificador único del plan de dieta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cliente_id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 + FK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Identificador del instruido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objetivo_calorico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float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Meta de 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calorías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diarias asignadas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proteinas_gramos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float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Cantidad recomendada de 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proteínas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en gramos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carbohidratos_gramos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float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Cantidad recomendada de 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carbohidratos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en gramos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grasas_gramos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float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Cantidad recomendada de grasas en gramos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observaciones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Indicaciones 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dietéticas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específicas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fecha_inicio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Fecha de inicio del plan nutricional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86" name="Google Shape;186;p26"/>
          <p:cNvSpPr txBox="1"/>
          <p:nvPr/>
        </p:nvSpPr>
        <p:spPr>
          <a:xfrm>
            <a:off x="16325" y="1094025"/>
            <a:ext cx="12192000" cy="5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Entidad: planes_dieta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 la planificación nutricional asignada al instruido, detallando objetivos calóricos y macronutrientes.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7"/>
          <p:cNvSpPr/>
          <p:nvPr/>
        </p:nvSpPr>
        <p:spPr>
          <a:xfrm>
            <a:off x="0" y="0"/>
            <a:ext cx="12192000" cy="503400"/>
          </a:xfrm>
          <a:prstGeom prst="rect">
            <a:avLst/>
          </a:prstGeom>
          <a:solidFill>
            <a:srgbClr val="1E4E79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PROYECTO FINAL</a:t>
            </a:r>
            <a:endParaRPr/>
          </a:p>
        </p:txBody>
      </p:sp>
      <p:sp>
        <p:nvSpPr>
          <p:cNvPr id="192" name="Google Shape;192;p27"/>
          <p:cNvSpPr/>
          <p:nvPr/>
        </p:nvSpPr>
        <p:spPr>
          <a:xfrm>
            <a:off x="0" y="503434"/>
            <a:ext cx="12192000" cy="554700"/>
          </a:xfrm>
          <a:prstGeom prst="rect">
            <a:avLst/>
          </a:prstGeom>
          <a:solidFill>
            <a:srgbClr val="2E75B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DICCIONARIO DE DATOS - BD</a:t>
            </a:r>
            <a:endParaRPr/>
          </a:p>
        </p:txBody>
      </p:sp>
      <p:graphicFrame>
        <p:nvGraphicFramePr>
          <p:cNvPr id="193" name="Google Shape;193;p27"/>
          <p:cNvGraphicFramePr/>
          <p:nvPr/>
        </p:nvGraphicFramePr>
        <p:xfrm>
          <a:off x="952500" y="171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{6B210DA8-6101-40D1-8A98-5FA0B078F93C}</a:tableStyleId>
              </a:tblPr>
              <a:tblGrid>
                <a:gridCol w="3429000"/>
                <a:gridCol w="3429000"/>
                <a:gridCol w="3429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CAMPO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TIPO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DESCRIPCIÓN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fecha_fin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Fecha de culminación del plan nutricional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boolean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Indica si el plan de dieta se encuentra activo o inactivo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decision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Estado de aprobacion o aceptación del plan nutricional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created_at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Fecha de registro en el sistema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updated_at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Fecha de actualización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8"/>
          <p:cNvSpPr/>
          <p:nvPr/>
        </p:nvSpPr>
        <p:spPr>
          <a:xfrm>
            <a:off x="0" y="0"/>
            <a:ext cx="12192000" cy="503400"/>
          </a:xfrm>
          <a:prstGeom prst="rect">
            <a:avLst/>
          </a:prstGeom>
          <a:solidFill>
            <a:srgbClr val="1E4E79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PROYECTO FINAL</a:t>
            </a:r>
            <a:endParaRPr/>
          </a:p>
        </p:txBody>
      </p:sp>
      <p:sp>
        <p:nvSpPr>
          <p:cNvPr id="199" name="Google Shape;199;p28"/>
          <p:cNvSpPr/>
          <p:nvPr/>
        </p:nvSpPr>
        <p:spPr>
          <a:xfrm>
            <a:off x="0" y="503434"/>
            <a:ext cx="12192000" cy="554700"/>
          </a:xfrm>
          <a:prstGeom prst="rect">
            <a:avLst/>
          </a:prstGeom>
          <a:solidFill>
            <a:srgbClr val="2E75B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DICCIONARIO DE DATOS - BD</a:t>
            </a:r>
            <a:endParaRPr/>
          </a:p>
        </p:txBody>
      </p:sp>
      <p:graphicFrame>
        <p:nvGraphicFramePr>
          <p:cNvPr id="200" name="Google Shape;200;p28"/>
          <p:cNvGraphicFramePr/>
          <p:nvPr/>
        </p:nvGraphicFramePr>
        <p:xfrm>
          <a:off x="968825" y="1676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{6B210DA8-6101-40D1-8A98-5FA0B078F93C}</a:tableStyleId>
              </a:tblPr>
              <a:tblGrid>
                <a:gridCol w="3429000"/>
                <a:gridCol w="3429000"/>
                <a:gridCol w="3429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CAMPO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TIPO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DESCRIPCIÓN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 + PK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Identificador 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único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del registro de entrenamiento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rutina_asignada_id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 + FK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Identificador de la rutina asignada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cliente_id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 + FK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Identificador del instruido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fecha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Fecha en la que se llevo a cabo la sesión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ejercicios_realizados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json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Estructura JSON con el detalle de los ejerccios ejecutados en la sesión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duracion_minutos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Tiempo total de duración de la sesión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percepcion_esfuerzo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Escala de esfuerzo percibido - RPE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observaciones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Comentarios del usuario sobre la sesión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estado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Estado del registro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fecha_inicio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Hora o fecha de 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inicio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del entrenamiento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fecha_fin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Hora o fecha de 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finalización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01" name="Google Shape;201;p28"/>
          <p:cNvSpPr txBox="1"/>
          <p:nvPr/>
        </p:nvSpPr>
        <p:spPr>
          <a:xfrm>
            <a:off x="16325" y="1094025"/>
            <a:ext cx="12192000" cy="7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Entidad: registro_entrenamiento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Almacena el historial de las sesiones de entrenamiento ejecutadas por el instruido.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9"/>
          <p:cNvSpPr/>
          <p:nvPr/>
        </p:nvSpPr>
        <p:spPr>
          <a:xfrm>
            <a:off x="0" y="0"/>
            <a:ext cx="12192000" cy="503400"/>
          </a:xfrm>
          <a:prstGeom prst="rect">
            <a:avLst/>
          </a:prstGeom>
          <a:solidFill>
            <a:srgbClr val="1E4E79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PROYECTO FINAL</a:t>
            </a:r>
            <a:endParaRPr/>
          </a:p>
        </p:txBody>
      </p:sp>
      <p:sp>
        <p:nvSpPr>
          <p:cNvPr id="207" name="Google Shape;207;p29"/>
          <p:cNvSpPr/>
          <p:nvPr/>
        </p:nvSpPr>
        <p:spPr>
          <a:xfrm>
            <a:off x="0" y="503434"/>
            <a:ext cx="12192000" cy="554700"/>
          </a:xfrm>
          <a:prstGeom prst="rect">
            <a:avLst/>
          </a:prstGeom>
          <a:solidFill>
            <a:srgbClr val="2E75B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DICCIONARIO DE DATOS - BD</a:t>
            </a:r>
            <a:endParaRPr/>
          </a:p>
        </p:txBody>
      </p:sp>
      <p:graphicFrame>
        <p:nvGraphicFramePr>
          <p:cNvPr id="208" name="Google Shape;208;p29"/>
          <p:cNvGraphicFramePr/>
          <p:nvPr/>
        </p:nvGraphicFramePr>
        <p:xfrm>
          <a:off x="968825" y="1880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{6B210DA8-6101-40D1-8A98-5FA0B078F93C}</a:tableStyleId>
              </a:tblPr>
              <a:tblGrid>
                <a:gridCol w="3429000"/>
                <a:gridCol w="3429000"/>
                <a:gridCol w="3429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CAMPO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TIPO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DESCRIPCIÓN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 + PK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Identificador único del feedback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rutina_sugerida_id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 + FK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Referencia a la propuesta automatizada de rutina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entrenador_id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 + FK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Entrenador que revisa o valida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cliente_id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 + FK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Instruido evaluado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accion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Tipo de accion tomada sobre la sugerencia de IA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rutina_original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json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Estructura inicial propuesta por el modelo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rutina_final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json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Estructura aprobada o modificada final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ejercicios_agregados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json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Elementos incorporados en la 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revisión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ejercicios_eliminados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json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Elementos removidos en el análisis del entrenador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09" name="Google Shape;209;p29"/>
          <p:cNvSpPr txBox="1"/>
          <p:nvPr/>
        </p:nvSpPr>
        <p:spPr>
          <a:xfrm>
            <a:off x="16325" y="1143000"/>
            <a:ext cx="12192000" cy="6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Entidad: feedback_hitl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Almacena la retroalimentación, 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auditorías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ajustes generados por el modelo de IA supervisado por el entrenador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0"/>
          <p:cNvSpPr/>
          <p:nvPr/>
        </p:nvSpPr>
        <p:spPr>
          <a:xfrm>
            <a:off x="0" y="0"/>
            <a:ext cx="12192000" cy="503400"/>
          </a:xfrm>
          <a:prstGeom prst="rect">
            <a:avLst/>
          </a:prstGeom>
          <a:solidFill>
            <a:srgbClr val="1E4E79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PROYECTO FINAL</a:t>
            </a:r>
            <a:endParaRPr/>
          </a:p>
        </p:txBody>
      </p:sp>
      <p:sp>
        <p:nvSpPr>
          <p:cNvPr id="215" name="Google Shape;215;p30"/>
          <p:cNvSpPr/>
          <p:nvPr/>
        </p:nvSpPr>
        <p:spPr>
          <a:xfrm>
            <a:off x="0" y="503434"/>
            <a:ext cx="12192000" cy="554700"/>
          </a:xfrm>
          <a:prstGeom prst="rect">
            <a:avLst/>
          </a:prstGeom>
          <a:solidFill>
            <a:srgbClr val="2E75B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DICCIONARIO DE DATOS - BD</a:t>
            </a:r>
            <a:endParaRPr/>
          </a:p>
        </p:txBody>
      </p:sp>
      <p:graphicFrame>
        <p:nvGraphicFramePr>
          <p:cNvPr id="216" name="Google Shape;216;p30"/>
          <p:cNvGraphicFramePr/>
          <p:nvPr/>
        </p:nvGraphicFramePr>
        <p:xfrm>
          <a:off x="952500" y="1730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{6B210DA8-6101-40D1-8A98-5FA0B078F93C}</a:tableStyleId>
              </a:tblPr>
              <a:tblGrid>
                <a:gridCol w="3429000"/>
                <a:gridCol w="3429000"/>
                <a:gridCol w="3429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CAMPO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TIPO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DESCRIPCIÓN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modificaciones_cargos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json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Ajustes en pesos o repeticiones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confianza_ia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float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Métrica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 seguridad del algoritmo predictivo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tiempo_revision_seg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Tiempo invertido por el entrenador en la revisión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observaciones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Justificación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o notas del entrenador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tipo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Clasificación del feedback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created_at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Fecha del registro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1"/>
          <p:cNvSpPr/>
          <p:nvPr/>
        </p:nvSpPr>
        <p:spPr>
          <a:xfrm>
            <a:off x="0" y="0"/>
            <a:ext cx="12192000" cy="503400"/>
          </a:xfrm>
          <a:prstGeom prst="rect">
            <a:avLst/>
          </a:prstGeom>
          <a:solidFill>
            <a:srgbClr val="1E4E79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PROYECTO FINAL</a:t>
            </a:r>
            <a:endParaRPr/>
          </a:p>
        </p:txBody>
      </p:sp>
      <p:sp>
        <p:nvSpPr>
          <p:cNvPr id="222" name="Google Shape;222;p31"/>
          <p:cNvSpPr/>
          <p:nvPr/>
        </p:nvSpPr>
        <p:spPr>
          <a:xfrm>
            <a:off x="0" y="503434"/>
            <a:ext cx="12192000" cy="554700"/>
          </a:xfrm>
          <a:prstGeom prst="rect">
            <a:avLst/>
          </a:prstGeom>
          <a:solidFill>
            <a:srgbClr val="2E75B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DICCIONARIO DE DATOS - BD</a:t>
            </a:r>
            <a:endParaRPr/>
          </a:p>
        </p:txBody>
      </p:sp>
      <p:graphicFrame>
        <p:nvGraphicFramePr>
          <p:cNvPr id="223" name="Google Shape;223;p31"/>
          <p:cNvGraphicFramePr/>
          <p:nvPr/>
        </p:nvGraphicFramePr>
        <p:xfrm>
          <a:off x="952500" y="199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{6B210DA8-6101-40D1-8A98-5FA0B078F93C}</a:tableStyleId>
              </a:tblPr>
              <a:tblGrid>
                <a:gridCol w="3429000"/>
                <a:gridCol w="3429000"/>
                <a:gridCol w="3429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CAMPO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TIPO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DESCRIPCIÓN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 + PK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Identificador único de la serie ejecutada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registro_entrenamiento_id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 + FK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Referencia a la sesión de entrenamiento general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ejercicio_id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 + FK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Referencia al ejercicio del 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catálogo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numero_serie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Número secuencial de la serie dentro del ejercicio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repeticiones_realizadas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Cantidad efectiva de repeticiones completadas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peso_kg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float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Carga o peso utilizado en kilogramos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descanso_segundos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Tiempo de descanso en segundos posterior a la serie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rpe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Escala de esfuerzo percibido para la serie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24" name="Google Shape;224;p31"/>
          <p:cNvSpPr txBox="1"/>
          <p:nvPr/>
        </p:nvSpPr>
        <p:spPr>
          <a:xfrm>
            <a:off x="16325" y="1143000"/>
            <a:ext cx="12192000" cy="6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Entidad: series_ejecutadas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Registra el desglose detallado de cada serie realizada para los ejercicios durante una sesión de entrenamiento del instruido.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2"/>
          <p:cNvSpPr/>
          <p:nvPr/>
        </p:nvSpPr>
        <p:spPr>
          <a:xfrm>
            <a:off x="0" y="0"/>
            <a:ext cx="12192000" cy="503400"/>
          </a:xfrm>
          <a:prstGeom prst="rect">
            <a:avLst/>
          </a:prstGeom>
          <a:solidFill>
            <a:srgbClr val="1E4E79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PROYECTO FINAL</a:t>
            </a:r>
            <a:endParaRPr/>
          </a:p>
        </p:txBody>
      </p:sp>
      <p:sp>
        <p:nvSpPr>
          <p:cNvPr id="230" name="Google Shape;230;p32"/>
          <p:cNvSpPr/>
          <p:nvPr/>
        </p:nvSpPr>
        <p:spPr>
          <a:xfrm>
            <a:off x="0" y="503434"/>
            <a:ext cx="12192000" cy="554700"/>
          </a:xfrm>
          <a:prstGeom prst="rect">
            <a:avLst/>
          </a:prstGeom>
          <a:solidFill>
            <a:srgbClr val="2E75B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DICCIONARIO DE DATOS - BD</a:t>
            </a:r>
            <a:endParaRPr/>
          </a:p>
        </p:txBody>
      </p:sp>
      <p:graphicFrame>
        <p:nvGraphicFramePr>
          <p:cNvPr id="231" name="Google Shape;231;p32"/>
          <p:cNvGraphicFramePr/>
          <p:nvPr/>
        </p:nvGraphicFramePr>
        <p:xfrm>
          <a:off x="952500" y="1646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{6B210DA8-6101-40D1-8A98-5FA0B078F93C}</a:tableStyleId>
              </a:tblPr>
              <a:tblGrid>
                <a:gridCol w="3429000"/>
                <a:gridCol w="3429000"/>
                <a:gridCol w="3429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CAMPO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TIPO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DESCRIPCIÓN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notas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Observaciones 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específicas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sobre la ejecución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created_at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Fecha de creación del registro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updated_at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Fecha de actualización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3"/>
          <p:cNvSpPr/>
          <p:nvPr/>
        </p:nvSpPr>
        <p:spPr>
          <a:xfrm>
            <a:off x="0" y="0"/>
            <a:ext cx="12192000" cy="503400"/>
          </a:xfrm>
          <a:prstGeom prst="rect">
            <a:avLst/>
          </a:prstGeom>
          <a:solidFill>
            <a:srgbClr val="1E4E79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PROYECTO FINAL</a:t>
            </a:r>
            <a:endParaRPr/>
          </a:p>
        </p:txBody>
      </p:sp>
      <p:sp>
        <p:nvSpPr>
          <p:cNvPr id="237" name="Google Shape;237;p33"/>
          <p:cNvSpPr/>
          <p:nvPr/>
        </p:nvSpPr>
        <p:spPr>
          <a:xfrm>
            <a:off x="0" y="503434"/>
            <a:ext cx="12192000" cy="554700"/>
          </a:xfrm>
          <a:prstGeom prst="rect">
            <a:avLst/>
          </a:prstGeom>
          <a:solidFill>
            <a:srgbClr val="2E75B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DICCIONARIO DE DATOS - BD</a:t>
            </a:r>
            <a:endParaRPr/>
          </a:p>
        </p:txBody>
      </p:sp>
      <p:graphicFrame>
        <p:nvGraphicFramePr>
          <p:cNvPr id="238" name="Google Shape;238;p33"/>
          <p:cNvGraphicFramePr/>
          <p:nvPr/>
        </p:nvGraphicFramePr>
        <p:xfrm>
          <a:off x="968825" y="2170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{6B210DA8-6101-40D1-8A98-5FA0B078F93C}</a:tableStyleId>
              </a:tblPr>
              <a:tblGrid>
                <a:gridCol w="3429000"/>
                <a:gridCol w="3429000"/>
                <a:gridCol w="3429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CAMPO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TIPO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DESCRIPCIÓN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 + PK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Indicador único de la certificación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entrenador_id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 + FK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Entrenador a quien le pertenece la certificación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nombre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Nombre de la certificación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institucion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Organismo o institución que emite el título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fecha_obtencion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Fecha de emisión de la certificación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fecha_expiracion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Fecha de caducidad (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sólo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si existe)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descripcion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Detalles adicionales del programa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imagen_url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Ruta digital o enlace del documento gráfico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39" name="Google Shape;239;p33"/>
          <p:cNvSpPr txBox="1"/>
          <p:nvPr/>
        </p:nvSpPr>
        <p:spPr>
          <a:xfrm>
            <a:off x="16325" y="1143000"/>
            <a:ext cx="12192000" cy="6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Entidad: certificaciones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Almacena los respaldo, credenciales y 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títulos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profesionales obtenidos por los entrenadores.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4"/>
          <p:cNvSpPr/>
          <p:nvPr/>
        </p:nvSpPr>
        <p:spPr>
          <a:xfrm>
            <a:off x="0" y="0"/>
            <a:ext cx="12192000" cy="503400"/>
          </a:xfrm>
          <a:prstGeom prst="rect">
            <a:avLst/>
          </a:prstGeom>
          <a:solidFill>
            <a:srgbClr val="1E4E79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PROYECTO FINAL</a:t>
            </a:r>
            <a:endParaRPr/>
          </a:p>
        </p:txBody>
      </p:sp>
      <p:sp>
        <p:nvSpPr>
          <p:cNvPr id="245" name="Google Shape;245;p34"/>
          <p:cNvSpPr/>
          <p:nvPr/>
        </p:nvSpPr>
        <p:spPr>
          <a:xfrm>
            <a:off x="0" y="503434"/>
            <a:ext cx="12192000" cy="554700"/>
          </a:xfrm>
          <a:prstGeom prst="rect">
            <a:avLst/>
          </a:prstGeom>
          <a:solidFill>
            <a:srgbClr val="2E75B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DICCIONARIO DE DATOS - BD</a:t>
            </a:r>
            <a:endParaRPr/>
          </a:p>
        </p:txBody>
      </p:sp>
      <p:graphicFrame>
        <p:nvGraphicFramePr>
          <p:cNvPr id="246" name="Google Shape;246;p34"/>
          <p:cNvGraphicFramePr/>
          <p:nvPr/>
        </p:nvGraphicFramePr>
        <p:xfrm>
          <a:off x="952500" y="1646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{6B210DA8-6101-40D1-8A98-5FA0B078F93C}</a:tableStyleId>
              </a:tblPr>
              <a:tblGrid>
                <a:gridCol w="3429000"/>
                <a:gridCol w="3429000"/>
                <a:gridCol w="3429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CAMPO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TIPO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DESCRIPCIÓN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created_at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Fecha de creación del registro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update_at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Fecha de actualización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archivo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Nombre o ruta del archivo adjunto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archivo_mime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Formato o tipo MIME del archivo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tiene_archivo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boolean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Indicador 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booleano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 presencia de archivo digital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5"/>
          <p:cNvSpPr/>
          <p:nvPr/>
        </p:nvSpPr>
        <p:spPr>
          <a:xfrm>
            <a:off x="0" y="0"/>
            <a:ext cx="12192000" cy="503400"/>
          </a:xfrm>
          <a:prstGeom prst="rect">
            <a:avLst/>
          </a:prstGeom>
          <a:solidFill>
            <a:srgbClr val="1E4E79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PROYECTO FINAL</a:t>
            </a:r>
            <a:endParaRPr/>
          </a:p>
        </p:txBody>
      </p:sp>
      <p:sp>
        <p:nvSpPr>
          <p:cNvPr id="252" name="Google Shape;252;p35"/>
          <p:cNvSpPr/>
          <p:nvPr/>
        </p:nvSpPr>
        <p:spPr>
          <a:xfrm>
            <a:off x="0" y="503434"/>
            <a:ext cx="12192000" cy="554700"/>
          </a:xfrm>
          <a:prstGeom prst="rect">
            <a:avLst/>
          </a:prstGeom>
          <a:solidFill>
            <a:srgbClr val="2E75B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DICCIONARIO DE DATOS - BD</a:t>
            </a:r>
            <a:endParaRPr/>
          </a:p>
        </p:txBody>
      </p:sp>
      <p:graphicFrame>
        <p:nvGraphicFramePr>
          <p:cNvPr id="253" name="Google Shape;253;p35"/>
          <p:cNvGraphicFramePr/>
          <p:nvPr/>
        </p:nvGraphicFramePr>
        <p:xfrm>
          <a:off x="952500" y="2586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{6B210DA8-6101-40D1-8A98-5FA0B078F93C}</a:tableStyleId>
              </a:tblPr>
              <a:tblGrid>
                <a:gridCol w="3429000"/>
                <a:gridCol w="3429000"/>
                <a:gridCol w="3429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CAMPO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TIPO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DESCRIPCIÓN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 + PK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Identificador único de la configuración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entrenador_id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 + FK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Entrenador que administra la configuración de los pagos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tasa_cambio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float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de la tasa de conversión monetaria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created_at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Fecha de creación de la configuración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updated_at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Fecha de última actualización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54" name="Google Shape;254;p35"/>
          <p:cNvSpPr txBox="1"/>
          <p:nvPr/>
        </p:nvSpPr>
        <p:spPr>
          <a:xfrm>
            <a:off x="16325" y="1143000"/>
            <a:ext cx="12192000" cy="6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Entidad: configuracion_pagos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 los parámetros globales, tasas de cambio y configuraciones monetarias para el módulo financiero.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6"/>
          <p:cNvSpPr/>
          <p:nvPr/>
        </p:nvSpPr>
        <p:spPr>
          <a:xfrm>
            <a:off x="0" y="0"/>
            <a:ext cx="12192000" cy="503400"/>
          </a:xfrm>
          <a:prstGeom prst="rect">
            <a:avLst/>
          </a:prstGeom>
          <a:solidFill>
            <a:srgbClr val="1E4E79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PROYECTO FINAL</a:t>
            </a:r>
            <a:endParaRPr/>
          </a:p>
        </p:txBody>
      </p:sp>
      <p:sp>
        <p:nvSpPr>
          <p:cNvPr id="260" name="Google Shape;260;p36"/>
          <p:cNvSpPr/>
          <p:nvPr/>
        </p:nvSpPr>
        <p:spPr>
          <a:xfrm>
            <a:off x="0" y="503434"/>
            <a:ext cx="12192000" cy="554700"/>
          </a:xfrm>
          <a:prstGeom prst="rect">
            <a:avLst/>
          </a:prstGeom>
          <a:solidFill>
            <a:srgbClr val="2E75B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DICCIONARIO DE DATOS - BD</a:t>
            </a:r>
            <a:endParaRPr/>
          </a:p>
        </p:txBody>
      </p:sp>
      <p:graphicFrame>
        <p:nvGraphicFramePr>
          <p:cNvPr id="261" name="Google Shape;261;p36"/>
          <p:cNvGraphicFramePr/>
          <p:nvPr/>
        </p:nvGraphicFramePr>
        <p:xfrm>
          <a:off x="885800" y="2057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{6B210DA8-6101-40D1-8A98-5FA0B078F93C}</a:tableStyleId>
              </a:tblPr>
              <a:tblGrid>
                <a:gridCol w="3429000"/>
                <a:gridCol w="3429000"/>
                <a:gridCol w="3429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CAMPO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TIPO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DESCRIPCIÓN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 + PK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Identificador único del plan de pago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entrenador_id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 + FK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Entrenador creador o emisor del plan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descripcion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Detalle de los beneficios o alcance del plan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ofrecimiento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Descripción comercial o promocional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monto_usd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float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Costo del plan expresado en dólares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dias_vigencia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Duración o periodo de validez en 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días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created_at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Fecha de creación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updated_at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Fecha de actualización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62" name="Google Shape;262;p36"/>
          <p:cNvSpPr txBox="1"/>
          <p:nvPr/>
        </p:nvSpPr>
        <p:spPr>
          <a:xfrm>
            <a:off x="16325" y="1143000"/>
            <a:ext cx="12192000" cy="6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Entidad: planes_pago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Catálogo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planes o suscripciones disponibles con sus tarifas y condiciones.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7"/>
          <p:cNvSpPr/>
          <p:nvPr/>
        </p:nvSpPr>
        <p:spPr>
          <a:xfrm>
            <a:off x="0" y="0"/>
            <a:ext cx="12192000" cy="503400"/>
          </a:xfrm>
          <a:prstGeom prst="rect">
            <a:avLst/>
          </a:prstGeom>
          <a:solidFill>
            <a:srgbClr val="1E4E79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PROYECTO FINAL</a:t>
            </a:r>
            <a:endParaRPr/>
          </a:p>
        </p:txBody>
      </p:sp>
      <p:sp>
        <p:nvSpPr>
          <p:cNvPr id="268" name="Google Shape;268;p37"/>
          <p:cNvSpPr/>
          <p:nvPr/>
        </p:nvSpPr>
        <p:spPr>
          <a:xfrm>
            <a:off x="0" y="503434"/>
            <a:ext cx="12192000" cy="554700"/>
          </a:xfrm>
          <a:prstGeom prst="rect">
            <a:avLst/>
          </a:prstGeom>
          <a:solidFill>
            <a:srgbClr val="2E75B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DICCIONARIO DE DATOS - BD</a:t>
            </a:r>
            <a:endParaRPr/>
          </a:p>
        </p:txBody>
      </p:sp>
      <p:graphicFrame>
        <p:nvGraphicFramePr>
          <p:cNvPr id="269" name="Google Shape;269;p37"/>
          <p:cNvGraphicFramePr/>
          <p:nvPr/>
        </p:nvGraphicFramePr>
        <p:xfrm>
          <a:off x="952500" y="2150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{6B210DA8-6101-40D1-8A98-5FA0B078F93C}</a:tableStyleId>
              </a:tblPr>
              <a:tblGrid>
                <a:gridCol w="3429000"/>
                <a:gridCol w="3429000"/>
                <a:gridCol w="3429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CAMPO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TIPO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DESCRIPCIÓN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 + PK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Identificador único del método de pago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entrenador_id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 + FK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Entrenador asociado al 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método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tipo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Clasificación del método de pago (ejemplo: transferencia, pago 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móvil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zelle, efectivo, etc)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datos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json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Estructura JSON con los datos bancarios o de contacto 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específicos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created_at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Fecha de creación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updated_at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Fecha de actualización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70" name="Google Shape;270;p37"/>
          <p:cNvSpPr txBox="1"/>
          <p:nvPr/>
        </p:nvSpPr>
        <p:spPr>
          <a:xfrm>
            <a:off x="16325" y="1143000"/>
            <a:ext cx="12192000" cy="6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Entidad: metodos_pago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 las vías o formas de pago aceptadas (cuentas bancarias, 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método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pago, etc)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8"/>
          <p:cNvSpPr/>
          <p:nvPr/>
        </p:nvSpPr>
        <p:spPr>
          <a:xfrm>
            <a:off x="0" y="0"/>
            <a:ext cx="12192000" cy="503400"/>
          </a:xfrm>
          <a:prstGeom prst="rect">
            <a:avLst/>
          </a:prstGeom>
          <a:solidFill>
            <a:srgbClr val="1E4E79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PROYECTO FINAL</a:t>
            </a:r>
            <a:endParaRPr/>
          </a:p>
        </p:txBody>
      </p:sp>
      <p:sp>
        <p:nvSpPr>
          <p:cNvPr id="276" name="Google Shape;276;p38"/>
          <p:cNvSpPr/>
          <p:nvPr/>
        </p:nvSpPr>
        <p:spPr>
          <a:xfrm>
            <a:off x="0" y="503434"/>
            <a:ext cx="12192000" cy="554700"/>
          </a:xfrm>
          <a:prstGeom prst="rect">
            <a:avLst/>
          </a:prstGeom>
          <a:solidFill>
            <a:srgbClr val="2E75B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DICCIONARIO DE DATOS - BD</a:t>
            </a:r>
            <a:endParaRPr/>
          </a:p>
        </p:txBody>
      </p:sp>
      <p:graphicFrame>
        <p:nvGraphicFramePr>
          <p:cNvPr id="277" name="Google Shape;277;p38"/>
          <p:cNvGraphicFramePr/>
          <p:nvPr/>
        </p:nvGraphicFramePr>
        <p:xfrm>
          <a:off x="952500" y="1977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{6B210DA8-6101-40D1-8A98-5FA0B078F93C}</a:tableStyleId>
              </a:tblPr>
              <a:tblGrid>
                <a:gridCol w="3429000"/>
                <a:gridCol w="3429000"/>
                <a:gridCol w="3429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CAMPO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TIPO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DESCRIPCIÓN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 + PK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Identificador único del registro de rendimiento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cliente_id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 + FK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Identificador del instruido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fecha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Fecha de evaluación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peso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float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Peso registrado en la fecha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repeticiones_totales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Acumulado de repeticiones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carga_total_kg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float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Suma total del peso movido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imc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float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Índice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 masa corporal calculado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observaciones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Comentarios sobre el rendimiento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created_at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Fecha de almacenamiento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78" name="Google Shape;278;p38"/>
          <p:cNvSpPr txBox="1"/>
          <p:nvPr/>
        </p:nvSpPr>
        <p:spPr>
          <a:xfrm>
            <a:off x="16325" y="1143000"/>
            <a:ext cx="12192000" cy="6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Entidad: rendimiento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Almacena métricas históricas de rendimiento físico general del instruido en los periodos determinados.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9"/>
          <p:cNvSpPr/>
          <p:nvPr/>
        </p:nvSpPr>
        <p:spPr>
          <a:xfrm>
            <a:off x="0" y="0"/>
            <a:ext cx="12192000" cy="503400"/>
          </a:xfrm>
          <a:prstGeom prst="rect">
            <a:avLst/>
          </a:prstGeom>
          <a:solidFill>
            <a:srgbClr val="1E4E79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PROYECTO FINAL</a:t>
            </a:r>
            <a:endParaRPr/>
          </a:p>
        </p:txBody>
      </p:sp>
      <p:sp>
        <p:nvSpPr>
          <p:cNvPr id="284" name="Google Shape;284;p39"/>
          <p:cNvSpPr/>
          <p:nvPr/>
        </p:nvSpPr>
        <p:spPr>
          <a:xfrm>
            <a:off x="0" y="503434"/>
            <a:ext cx="12192000" cy="554700"/>
          </a:xfrm>
          <a:prstGeom prst="rect">
            <a:avLst/>
          </a:prstGeom>
          <a:solidFill>
            <a:srgbClr val="2E75B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DICCIONARIO DE DATOS - BD</a:t>
            </a:r>
            <a:endParaRPr/>
          </a:p>
        </p:txBody>
      </p:sp>
      <p:graphicFrame>
        <p:nvGraphicFramePr>
          <p:cNvPr id="285" name="Google Shape;285;p39"/>
          <p:cNvGraphicFramePr/>
          <p:nvPr/>
        </p:nvGraphicFramePr>
        <p:xfrm>
          <a:off x="952500" y="1977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{6B210DA8-6101-40D1-8A98-5FA0B078F93C}</a:tableStyleId>
              </a:tblPr>
              <a:tblGrid>
                <a:gridCol w="3429000"/>
                <a:gridCol w="3429000"/>
                <a:gridCol w="3429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CAMPO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TIPO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DESCRIPCIÓN</a:t>
                      </a:r>
                      <a:endParaRPr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2E75B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instruido_id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Identificador del instruido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instruido_nombre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Nombre del instruido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entrenador_nombre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Nombre del entrenador asignado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fecha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Fecha de corte del registro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peso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float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Peso </a:t>
                      </a: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actual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repeticiones_totales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de repeticiones registradas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carga_total_kg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float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Carga acumulada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imc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float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IMC actual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rutina_activa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Nombre de la rutina que tiene asignada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tipo_rutina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Clasificación de la rutina en curso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86" name="Google Shape;286;p39"/>
          <p:cNvSpPr txBox="1"/>
          <p:nvPr/>
        </p:nvSpPr>
        <p:spPr>
          <a:xfrm>
            <a:off x="16325" y="1143000"/>
            <a:ext cx="12192000" cy="6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Vista: vw_progreso_instruido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Vista de solo lectura que consolida el resumen del progreso físico y rutinas activas de los instruidos.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